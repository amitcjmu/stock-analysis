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spPr>
            <a:solidFill>
              <a:srgbClr val="5EA8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  <c:pt idx="3">
                    <c:v>Aug</c:v>
                  </c:pt>
                  <c:pt idx="4">
                    <c:v>Sep</c:v>
                  </c:pt>
                  <c:pt idx="5">
                    <c:v>Oct</c:v>
                  </c:pt>
                  <c:pt idx="6">
                    <c:v>Nov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111</c:v>
                </c:pt>
                <c:pt idx="1">
                  <c:v>620</c:v>
                </c:pt>
                <c:pt idx="2">
                  <c:v>471</c:v>
                </c:pt>
                <c:pt idx="3">
                  <c:v>618</c:v>
                </c:pt>
                <c:pt idx="4">
                  <c:v>315</c:v>
                </c:pt>
                <c:pt idx="5">
                  <c:v>707</c:v>
                </c:pt>
                <c:pt idx="6">
                  <c:v>555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FORCE ASSESS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Enterprise AI with Agentic Development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0" y="2377440"/>
            <a:ext cx="1828800" cy="457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CMDB Data into Cloud Migration Intelligence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Briefing | December 2025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-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Pain Points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54864" cy="5943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migration assessments are manual, time-consuming, and expert-dependent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48840"/>
            <a:ext cx="54864" cy="5943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945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6R recommendations across different consultants and engagements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34640"/>
            <a:ext cx="54864" cy="5943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8803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visibility into decommission candidates buried in CMDB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520440"/>
            <a:ext cx="54864" cy="5943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566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expertise is expensive - senior architects are a scarce resource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Approach Cost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417320"/>
            <a:ext cx="3931920" cy="685800"/>
          </a:xfrm>
          <a:prstGeom prst="rect">
            <a:avLst>
              <a:gd name="adj" fmla="val 6667"/>
            </a:avLst>
          </a:prstGeom>
          <a:solidFill>
            <a:srgbClr val="1C2833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4173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846320" y="1783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Development Team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194560"/>
            <a:ext cx="3931920" cy="685800"/>
          </a:xfrm>
          <a:prstGeom prst="rect">
            <a:avLst>
              <a:gd name="adj" fmla="val 6667"/>
            </a:avLst>
          </a:prstGeom>
          <a:solidFill>
            <a:srgbClr val="1C2833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194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Months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84632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Timeline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971800"/>
            <a:ext cx="3931920" cy="685800"/>
          </a:xfrm>
          <a:prstGeom prst="rect">
            <a:avLst>
              <a:gd name="adj" fmla="val 6667"/>
            </a:avLst>
          </a:prstGeom>
          <a:solidFill>
            <a:srgbClr val="1C2833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9718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$500K+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846320" y="3337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Investment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840480"/>
            <a:ext cx="3931920" cy="548640"/>
          </a:xfrm>
          <a:prstGeom prst="rect">
            <a:avLst>
              <a:gd name="adj" fmla="val 8333"/>
            </a:avLst>
          </a:prstGeom>
          <a:solidFill>
            <a:srgbClr val="5EA8A7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840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Opportunity: Leverage AI to accelerate and democratize this capability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AI Force Assess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CMDB Assessment Platform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migration recommendations powered by 17 CrewAI agents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651760" cy="105156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45920"/>
            <a:ext cx="2651760" cy="457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Flow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CMDB data ingestion and intelligent asset categorization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2651760" cy="105156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645920"/>
            <a:ext cx="2651760" cy="457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Flow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103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questionnaires that fill data gaps based on analysis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645920"/>
            <a:ext cx="2651760" cy="105156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645920"/>
            <a:ext cx="2651760" cy="457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Flow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103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6R migration recommendations with confidence scores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651760" cy="105156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2651760" cy="457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971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Flow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291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planning and migration sequencing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2834640"/>
            <a:ext cx="2651760" cy="105156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2834640"/>
            <a:ext cx="2651760" cy="457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2971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Decommission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3291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retirement candidates with cost savings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2834640"/>
            <a:ext cx="2651760" cy="105156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834640"/>
            <a:ext cx="2651760" cy="457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2971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API-First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291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REST API for enterprise integration and MCP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160520"/>
            <a:ext cx="9144000" cy="640080"/>
          </a:xfrm>
          <a:prstGeom prst="rect">
            <a:avLst/>
          </a:prstGeom>
          <a:solidFill>
            <a:srgbClr val="2E4053"/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71600" y="4434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isolation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93192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31920" y="4434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observability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92240" y="4434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analysis ready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Innovation: Agentic Development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Software Engineering at Scale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06040" cy="731520"/>
          </a:xfrm>
          <a:prstGeom prst="rect">
            <a:avLst>
              <a:gd name="adj" fmla="val 6250"/>
            </a:avLst>
          </a:prstGeom>
          <a:solidFill>
            <a:srgbClr val="3D5066"/>
          </a:solidFill>
          <a:ln w="12700">
            <a:solidFill>
              <a:srgbClr val="5A6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IDE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code completion, refactoring, and intelligent suggestions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063240" y="1097280"/>
            <a:ext cx="2606040" cy="731520"/>
          </a:xfrm>
          <a:prstGeom prst="rect">
            <a:avLst>
              <a:gd name="adj" fmla="val 6250"/>
            </a:avLst>
          </a:prstGeom>
          <a:solidFill>
            <a:srgbClr val="3D5066"/>
          </a:solidFill>
          <a:ln w="12700">
            <a:solidFill>
              <a:srgbClr val="5A6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143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(CC)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54680" y="1417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coding agent for complex multi-file changes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2606040" cy="731520"/>
          </a:xfrm>
          <a:prstGeom prst="rect">
            <a:avLst>
              <a:gd name="adj" fmla="val 6250"/>
            </a:avLst>
          </a:prstGeom>
          <a:solidFill>
            <a:srgbClr val="3D5066"/>
          </a:solidFill>
          <a:ln w="12700">
            <a:solidFill>
              <a:srgbClr val="5A6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65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 Framework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240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specialized AI agents working collaboratively on analysis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63240" y="1920240"/>
            <a:ext cx="2606040" cy="731520"/>
          </a:xfrm>
          <a:prstGeom prst="rect">
            <a:avLst>
              <a:gd name="adj" fmla="val 6250"/>
            </a:avLst>
          </a:prstGeom>
          <a:solidFill>
            <a:srgbClr val="3D5066"/>
          </a:solidFill>
          <a:ln w="12700">
            <a:solidFill>
              <a:srgbClr val="5A6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1965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Projects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54680" y="2240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delivery with 10 iterations, 20 milestones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5394960" cy="1371600"/>
          </a:xfrm>
          <a:prstGeom prst="rect">
            <a:avLst>
              <a:gd name="adj" fmla="val 3333"/>
            </a:avLst>
          </a:prstGeom>
          <a:solidFill>
            <a:srgbClr val="2D5A59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26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Categories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2004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Agents (4): Data analysis, CMDB parsing, dependency mapping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34015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Agents (2): Migration strategy, risk assessment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" y="36027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Agents (1): Wave planning, sequencing coordination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380390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Agents (3): Pattern recognition, context management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400507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Agents (3): Health monitoring, performance tracking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43600" y="1097280"/>
            <a:ext cx="283464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1115568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66560" y="111556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 Records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0" y="1828800"/>
            <a:ext cx="283464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1847088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3-5x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66560" y="184708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velocity increase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0" y="2560320"/>
            <a:ext cx="283464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0" y="2578608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766560" y="257860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layers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0" y="3291840"/>
            <a:ext cx="283464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0" y="3310128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66560" y="331012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coverage for integration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Transformation Story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Zero AI Experience to Production-Ready in 6 Months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Composition &amp; Growth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206240" cy="4114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320040" cy="320040"/>
          </a:xfrm>
          <a:prstGeom prst="ellipse">
            <a:avLst/>
          </a:prstGeom>
          <a:solidFill>
            <a:srgbClr val="5EA8A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3258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Freshers -&gt; QA Team (Onboarding)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4206240" cy="4114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28800"/>
            <a:ext cx="320040" cy="320040"/>
          </a:xfrm>
          <a:prstGeom prst="ellipse">
            <a:avLst/>
          </a:prstGeom>
          <a:solidFill>
            <a:srgbClr val="5EA8A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1783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 -&gt; Product Team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4206240" cy="4114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286000"/>
            <a:ext cx="320040" cy="320040"/>
          </a:xfrm>
          <a:prstGeom prst="ellipse">
            <a:avLst/>
          </a:prstGeom>
          <a:solidFill>
            <a:srgbClr val="5EA8A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240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Resources -&gt; QA Testers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697480"/>
            <a:ext cx="4206240" cy="4114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743200"/>
            <a:ext cx="320040" cy="320040"/>
          </a:xfrm>
          <a:prstGeom prst="ellipse">
            <a:avLst/>
          </a:prstGeom>
          <a:solidFill>
            <a:srgbClr val="5EA8A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2697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Architects -&gt; AI Engineers / Developers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154680"/>
            <a:ext cx="4206240" cy="4114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00400"/>
            <a:ext cx="320040" cy="320040"/>
          </a:xfrm>
          <a:prstGeom prst="ellipse">
            <a:avLst/>
          </a:prstGeom>
          <a:solidFill>
            <a:srgbClr val="5EA8A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3154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Engineer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657600"/>
            <a:ext cx="4206240" cy="1097280"/>
          </a:xfrm>
          <a:prstGeom prst="rect">
            <a:avLst>
              <a:gd name="adj" fmla="val 4167"/>
            </a:avLst>
          </a:prstGeom>
          <a:solidFill>
            <a:srgbClr val="2E4053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73075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Developed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977640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Development (Cursor, Claude Code)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4123944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Agile/Scrum Methodology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" y="4270248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Workflows &amp; Project Management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8640" y="4416552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Containerization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" y="4562856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Planning &amp; Milestone Execution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960120"/>
            <a:ext cx="4023360" cy="1325880"/>
          </a:xfrm>
          <a:prstGeom prst="rect">
            <a:avLst>
              <a:gd name="adj" fmla="val 3448"/>
            </a:avLst>
          </a:prstGeom>
          <a:solidFill>
            <a:srgbClr val="BF9A4A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Consolidation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1371600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0" y="1545336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Lead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37760" y="1719072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Architect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37760" y="1892808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Developer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37760" y="2066544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QA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423160"/>
            <a:ext cx="4023360" cy="100584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2423160"/>
            <a:ext cx="54864" cy="100584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2487168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Timeline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37760" y="27432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1-2: Tool setup, basic training, first commits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937760" y="29443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3-4: Independent feature development begins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937760" y="31455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5-6: Full team velocity, production-ready delivery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325880" cy="109728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920240"/>
            <a:ext cx="1325880" cy="9144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3,497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Commits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83080" y="914400"/>
            <a:ext cx="1325880" cy="109728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783080" y="1920240"/>
            <a:ext cx="1325880" cy="9144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10515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83080" y="15544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Created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1325880" cy="109728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920240"/>
            <a:ext cx="1325880" cy="9144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0515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0" y="15544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Closed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914400"/>
            <a:ext cx="1325880" cy="109728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920240"/>
            <a:ext cx="1325880" cy="9144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10515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15544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 Rate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148840"/>
            <a:ext cx="1325880" cy="109728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54680"/>
            <a:ext cx="1325880" cy="9144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2860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5760" y="27889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Fixed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783080" y="2148840"/>
            <a:ext cx="1325880" cy="109728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783080" y="3154680"/>
            <a:ext cx="1325880" cy="9144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26" name="Text 24"/>
          <p:cNvSpPr/>
          <p:nvPr/>
        </p:nvSpPr>
        <p:spPr>
          <a:xfrm>
            <a:off x="1783080" y="22860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783080" y="27889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Merged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148840"/>
            <a:ext cx="1325880" cy="109728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3154680"/>
            <a:ext cx="1325880" cy="9144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0" y="22860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200400" y="27889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17720" y="2148840"/>
            <a:ext cx="1325880" cy="109728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3154680"/>
            <a:ext cx="1325880" cy="9144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4" name="Text 32"/>
          <p:cNvSpPr/>
          <p:nvPr/>
        </p:nvSpPr>
        <p:spPr>
          <a:xfrm>
            <a:off x="4617720" y="22860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617720" y="27889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35040" y="914400"/>
            <a:ext cx="2834640" cy="3200400"/>
          </a:xfrm>
          <a:prstGeom prst="rect">
            <a:avLst>
              <a:gd name="adj" fmla="val 19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035040" y="1005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Commit Velocity</a:t>
            </a:r>
            <a:endParaRPr lang="en-US" sz="1100" dirty="0"/>
          </a:p>
        </p:txBody>
      </p:sp>
      <p:graphicFrame>
        <p:nvGraphicFramePr>
          <p:cNvPr id="38" name="Chart 0" descr=""/>
          <p:cNvGraphicFramePr/>
          <p:nvPr/>
        </p:nvGraphicFramePr>
        <p:xfrm>
          <a:off x="6126480" y="1371600"/>
          <a:ext cx="2651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Efficiency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291840" cy="3200400"/>
          </a:xfrm>
          <a:prstGeom prst="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3291840" cy="502920"/>
          </a:xfrm>
          <a:prstGeom prst="rect">
            <a:avLst>
              <a:gd name="adj" fmla="val 14545"/>
            </a:avLst>
          </a:prstGeom>
          <a:solidFill>
            <a:srgbClr val="2E405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3291840" cy="182880"/>
          </a:xfrm>
          <a:prstGeom prst="rect">
            <a:avLst/>
          </a:prstGeom>
          <a:solidFill>
            <a:srgbClr val="2E405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Approach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108960" cy="54864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Size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15544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Engineers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3108960" cy="54864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21945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Months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3108960" cy="54864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34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2834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~$500K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3108960" cy="54864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74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3474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31920" y="914400"/>
            <a:ext cx="3291840" cy="3200400"/>
          </a:xfrm>
          <a:prstGeom prst="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31920" y="914400"/>
            <a:ext cx="3291840" cy="502920"/>
          </a:xfrm>
          <a:prstGeom prst="rect">
            <a:avLst>
              <a:gd name="adj" fmla="val 14545"/>
            </a:avLst>
          </a:prstGeom>
          <a:solidFill>
            <a:srgbClr val="5EA8A7"/>
          </a:solidFill>
          <a:ln/>
        </p:spPr>
      </p:sp>
      <p:sp>
        <p:nvSpPr>
          <p:cNvPr id="22" name="Shape 20"/>
          <p:cNvSpPr/>
          <p:nvPr/>
        </p:nvSpPr>
        <p:spPr>
          <a:xfrm>
            <a:off x="3931920" y="1234440"/>
            <a:ext cx="3291840" cy="18288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23" name="Text 21"/>
          <p:cNvSpPr/>
          <p:nvPr/>
        </p:nvSpPr>
        <p:spPr>
          <a:xfrm>
            <a:off x="3931920" y="9601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Approach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023360" y="1554480"/>
            <a:ext cx="3108960" cy="54864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0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Size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15544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 Members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023360" y="2194560"/>
            <a:ext cx="3108960" cy="54864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0" y="21945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 Months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023360" y="2834640"/>
            <a:ext cx="3108960" cy="54864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0" y="2834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0" y="2834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~$300K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023360" y="3474720"/>
            <a:ext cx="3108960" cy="54864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0" y="3474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0" y="3474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ADRs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06640" y="1371600"/>
            <a:ext cx="1463040" cy="2286000"/>
          </a:xfrm>
          <a:prstGeom prst="rect">
            <a:avLst>
              <a:gd name="adj" fmla="val 6250"/>
            </a:avLst>
          </a:prstGeom>
          <a:solidFill>
            <a:srgbClr val="27AE60"/>
          </a:solidFill>
          <a:ln/>
        </p:spPr>
      </p:sp>
      <p:sp>
        <p:nvSpPr>
          <p:cNvPr id="37" name="Text 35"/>
          <p:cNvSpPr/>
          <p:nvPr/>
        </p:nvSpPr>
        <p:spPr>
          <a:xfrm>
            <a:off x="7406640" y="1645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740664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06640" y="2743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~$200K saved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303520" cy="457200"/>
          </a:xfrm>
          <a:prstGeom prst="rect">
            <a:avLst>
              <a:gd name="adj" fmla="val 6000"/>
            </a:avLst>
          </a:prstGeom>
          <a:solidFill>
            <a:srgbClr val="1C283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API Layer (FastAPI)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0" y="914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handling, validation, routing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5303520" cy="457200"/>
          </a:xfrm>
          <a:prstGeom prst="rect">
            <a:avLst>
              <a:gd name="adj" fmla="val 6000"/>
            </a:avLst>
          </a:prstGeom>
          <a:solidFill>
            <a:srgbClr val="2E405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17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Service Layer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1417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logic, orchestration, workflows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5303520" cy="457200"/>
          </a:xfrm>
          <a:prstGeom prst="rect">
            <a:avLst>
              <a:gd name="adj" fmla="val 6000"/>
            </a:avLst>
          </a:prstGeom>
          <a:solidFill>
            <a:srgbClr val="5EA8A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Repository Layer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19202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abstraction, data access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5303520" cy="457200"/>
          </a:xfrm>
          <a:prstGeom prst="rect">
            <a:avLst>
              <a:gd name="adj" fmla="val 6000"/>
            </a:avLst>
          </a:prstGeom>
          <a:solidFill>
            <a:srgbClr val="BF9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23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Model Layer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2423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+ Pydantic structures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5303520" cy="457200"/>
          </a:xfrm>
          <a:prstGeom prst="rect">
            <a:avLst>
              <a:gd name="adj" fmla="val 6000"/>
            </a:avLst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Cache Layer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2926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Redis/in-memory optimization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5303520" cy="457200"/>
          </a:xfrm>
          <a:prstGeom prst="rect">
            <a:avLst>
              <a:gd name="adj" fmla="val 6000"/>
            </a:avLst>
          </a:prstGeom>
          <a:solidFill>
            <a:srgbClr val="3498D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Queue Layer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3429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processing, background tasks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931920"/>
            <a:ext cx="5303520" cy="457200"/>
          </a:xfrm>
          <a:prstGeom prst="rect">
            <a:avLst>
              <a:gd name="adj" fmla="val 6000"/>
            </a:avLst>
          </a:prstGeom>
          <a:solidFill>
            <a:srgbClr val="9B59B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Integration Layer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0" y="3931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services, AI providers, MCP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52160" y="914400"/>
            <a:ext cx="2926080" cy="100584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0" y="960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Stack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11887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/ React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Query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852160" y="2011680"/>
            <a:ext cx="2926080" cy="100584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0" y="2057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Stack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2286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(async)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+ PostgreSQL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for embeddings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 agents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852160" y="3108960"/>
            <a:ext cx="2926080" cy="1005840"/>
          </a:xfrm>
          <a:prstGeom prst="rect">
            <a:avLst>
              <a:gd name="adj" fmla="val 4545"/>
            </a:avLst>
          </a:prstGeom>
          <a:solidFill>
            <a:srgbClr val="1C2833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3154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 Size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0" y="33832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~485K lines Python (backend)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~289K lines TypeScript (frontend)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containerized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Assessment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828800" cy="1463040"/>
          </a:xfrm>
          <a:prstGeom prst="rect">
            <a:avLst>
              <a:gd name="adj" fmla="val 5000"/>
            </a:avLst>
          </a:prstGeom>
          <a:solidFill>
            <a:srgbClr val="3D5066"/>
          </a:solidFill>
          <a:ln w="12700">
            <a:solidFill>
              <a:srgbClr val="5A6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377440"/>
            <a:ext cx="457200" cy="457200"/>
          </a:xfrm>
          <a:prstGeom prst="ellipse">
            <a:avLst/>
          </a:prstGeom>
          <a:solidFill>
            <a:srgbClr val="5EA8A7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CMDB data and analyze assets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68880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34640" y="2286000"/>
            <a:ext cx="1828800" cy="1463040"/>
          </a:xfrm>
          <a:prstGeom prst="rect">
            <a:avLst>
              <a:gd name="adj" fmla="val 5000"/>
            </a:avLst>
          </a:prstGeom>
          <a:solidFill>
            <a:srgbClr val="3D5066"/>
          </a:solidFill>
          <a:ln w="12700">
            <a:solidFill>
              <a:srgbClr val="5A6E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377440"/>
            <a:ext cx="457200" cy="457200"/>
          </a:xfrm>
          <a:prstGeom prst="ellipse">
            <a:avLst/>
          </a:prstGeom>
          <a:solidFill>
            <a:srgbClr val="5EA8A7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questionnaire generation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63440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29200" y="2286000"/>
            <a:ext cx="1828800" cy="1463040"/>
          </a:xfrm>
          <a:prstGeom prst="rect">
            <a:avLst>
              <a:gd name="adj" fmla="val 5000"/>
            </a:avLst>
          </a:prstGeom>
          <a:solidFill>
            <a:srgbClr val="3D5066"/>
          </a:solidFill>
          <a:ln w="12700">
            <a:solidFill>
              <a:srgbClr val="5A6E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15000" y="2377440"/>
            <a:ext cx="457200" cy="457200"/>
          </a:xfrm>
          <a:prstGeom prst="ellipse">
            <a:avLst/>
          </a:prstGeom>
          <a:solidFill>
            <a:srgbClr val="5EA8A7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6R recommendations with confidence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223760" y="2286000"/>
            <a:ext cx="1828800" cy="1463040"/>
          </a:xfrm>
          <a:prstGeom prst="rect">
            <a:avLst>
              <a:gd name="adj" fmla="val 5000"/>
            </a:avLst>
          </a:prstGeom>
          <a:solidFill>
            <a:srgbClr val="3D5066"/>
          </a:solidFill>
          <a:ln w="12700">
            <a:solidFill>
              <a:srgbClr val="5A6E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09560" y="2377440"/>
            <a:ext cx="457200" cy="457200"/>
          </a:xfrm>
          <a:prstGeom prst="ellipse">
            <a:avLst/>
          </a:prstGeom>
          <a:solidFill>
            <a:srgbClr val="5EA8A7"/>
          </a:solidFill>
          <a:ln/>
        </p:spPr>
      </p:sp>
      <p:sp>
        <p:nvSpPr>
          <p:cNvPr id="24" name="Text 22"/>
          <p:cNvSpPr/>
          <p:nvPr/>
        </p:nvSpPr>
        <p:spPr>
          <a:xfrm>
            <a:off x="79095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2376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planning and sequencing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Duration: ~8-10 minutes | Using sanitized sample data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Future Vision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3657600"/>
          </a:xfrm>
          <a:prstGeom prst="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74320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71600"/>
            <a:ext cx="2743200" cy="27432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Phase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109728" cy="109728"/>
          </a:xfrm>
          <a:prstGeom prst="ellipse">
            <a:avLst/>
          </a:prstGeom>
          <a:solidFill>
            <a:srgbClr val="5EA8A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QA team onboarding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109728" cy="109728"/>
          </a:xfrm>
          <a:prstGeom prst="ellipse">
            <a:avLst/>
          </a:prstGeom>
          <a:solidFill>
            <a:srgbClr val="5EA8A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Plan Flow implementation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109728" cy="109728"/>
          </a:xfrm>
          <a:prstGeom prst="ellipse">
            <a:avLst/>
          </a:prstGeom>
          <a:solidFill>
            <a:srgbClr val="5EA8A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alpha testing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109728" cy="109728"/>
          </a:xfrm>
          <a:prstGeom prst="ellipse">
            <a:avLst/>
          </a:prstGeom>
          <a:solidFill>
            <a:srgbClr val="5EA8A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and training materials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4114800"/>
            <a:ext cx="1645920" cy="320040"/>
          </a:xfrm>
          <a:prstGeom prst="rect">
            <a:avLst>
              <a:gd name="adj" fmla="val 8571"/>
            </a:avLst>
          </a:prstGeom>
          <a:solidFill>
            <a:srgbClr val="5EA8A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14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46120" y="914400"/>
            <a:ext cx="2743200" cy="3657600"/>
          </a:xfrm>
          <a:prstGeom prst="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914400"/>
            <a:ext cx="274320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246120" y="1371600"/>
            <a:ext cx="2743200" cy="27432"/>
          </a:xfrm>
          <a:prstGeom prst="rect">
            <a:avLst/>
          </a:prstGeom>
          <a:solidFill>
            <a:srgbClr val="BF9A4A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960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Phase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1188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29000" y="1600200"/>
            <a:ext cx="109728" cy="109728"/>
          </a:xfrm>
          <a:prstGeom prst="ellipse">
            <a:avLst/>
          </a:prstGeom>
          <a:solidFill>
            <a:srgbClr val="BF9A4A"/>
          </a:solidFill>
          <a:ln/>
        </p:spPr>
      </p:sp>
      <p:sp>
        <p:nvSpPr>
          <p:cNvPr id="25" name="Text 23"/>
          <p:cNvSpPr/>
          <p:nvPr/>
        </p:nvSpPr>
        <p:spPr>
          <a:xfrm>
            <a:off x="361188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testers on live engagements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29000" y="2103120"/>
            <a:ext cx="109728" cy="109728"/>
          </a:xfrm>
          <a:prstGeom prst="ellipse">
            <a:avLst/>
          </a:prstGeom>
          <a:solidFill>
            <a:srgbClr val="BF9A4A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Decommission flow completion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29000" y="2606040"/>
            <a:ext cx="109728" cy="109728"/>
          </a:xfrm>
          <a:prstGeom prst="ellipse">
            <a:avLst/>
          </a:prstGeom>
          <a:solidFill>
            <a:srgbClr val="BF9A4A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existing tooling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29000" y="3108960"/>
            <a:ext cx="109728" cy="109728"/>
          </a:xfrm>
          <a:prstGeom prst="ellipse">
            <a:avLst/>
          </a:prstGeom>
          <a:solidFill>
            <a:srgbClr val="BF9A4A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94760" y="4114800"/>
            <a:ext cx="1645920" cy="320040"/>
          </a:xfrm>
          <a:prstGeom prst="rect">
            <a:avLst>
              <a:gd name="adj" fmla="val 8571"/>
            </a:avLst>
          </a:prstGeom>
          <a:solidFill>
            <a:srgbClr val="F5ECD9"/>
          </a:solidFill>
          <a:ln/>
        </p:spPr>
      </p:sp>
      <p:sp>
        <p:nvSpPr>
          <p:cNvPr id="33" name="Text 31"/>
          <p:cNvSpPr/>
          <p:nvPr/>
        </p:nvSpPr>
        <p:spPr>
          <a:xfrm>
            <a:off x="3794760" y="4114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914400"/>
            <a:ext cx="2743200" cy="3657600"/>
          </a:xfrm>
          <a:prstGeom prst="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914400"/>
            <a:ext cx="274320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126480" y="1371600"/>
            <a:ext cx="2743200" cy="2743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960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Vision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26480" y="1188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2026+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09360" y="1600200"/>
            <a:ext cx="109728" cy="109728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analysis extension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09360" y="2103120"/>
            <a:ext cx="109728" cy="109728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42" name="Text 40"/>
          <p:cNvSpPr/>
          <p:nvPr/>
        </p:nvSpPr>
        <p:spPr>
          <a:xfrm>
            <a:off x="649224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client pilots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09360" y="2606040"/>
            <a:ext cx="109728" cy="109728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44" name="Text 42"/>
          <p:cNvSpPr/>
          <p:nvPr/>
        </p:nvSpPr>
        <p:spPr>
          <a:xfrm>
            <a:off x="649224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marketplace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09360" y="3108960"/>
            <a:ext cx="109728" cy="109728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46" name="Text 44"/>
          <p:cNvSpPr/>
          <p:nvPr/>
        </p:nvSpPr>
        <p:spPr>
          <a:xfrm>
            <a:off x="649224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Cross-org methodology adoption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675120" y="4114800"/>
            <a:ext cx="1645920" cy="320040"/>
          </a:xfrm>
          <a:prstGeom prst="rect">
            <a:avLst>
              <a:gd name="adj" fmla="val 8571"/>
            </a:avLst>
          </a:prstGeom>
          <a:solidFill>
            <a:srgbClr val="E8F4FC"/>
          </a:solidFill>
          <a:ln/>
        </p:spPr>
      </p:sp>
      <p:sp>
        <p:nvSpPr>
          <p:cNvPr id="48" name="Text 46"/>
          <p:cNvSpPr/>
          <p:nvPr/>
        </p:nvSpPr>
        <p:spPr>
          <a:xfrm>
            <a:off x="6675120" y="4114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Learnings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1051560"/>
          </a:xfrm>
          <a:prstGeom prst="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51560"/>
            <a:ext cx="411480" cy="411480"/>
          </a:xfrm>
          <a:prstGeom prst="ellipse">
            <a:avLst/>
          </a:prstGeom>
          <a:solidFill>
            <a:srgbClr val="5EA8A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Development is Production-Ready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coding with Cursor and CC is mature enough for enterprise applications with proper guardrails.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206240" cy="1051560"/>
          </a:xfrm>
          <a:prstGeom prst="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51560"/>
            <a:ext cx="411480" cy="411480"/>
          </a:xfrm>
          <a:prstGeom prst="ellipse">
            <a:avLst/>
          </a:prstGeom>
          <a:solidFill>
            <a:srgbClr val="5EA8A7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10058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Talent Can Be Rapidly Upskilled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49240" y="13258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proper tooling and mentorship, freshers become productive contributors within 2-3 months.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057400"/>
            <a:ext cx="4206240" cy="1051560"/>
          </a:xfrm>
          <a:prstGeom prst="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194560"/>
            <a:ext cx="411480" cy="411480"/>
          </a:xfrm>
          <a:prstGeom prst="ellipse">
            <a:avLst/>
          </a:prstGeom>
          <a:solidFill>
            <a:srgbClr val="5EA8A7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1488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Pair Programming Multiplies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24688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3-5x velocity increase observed compared to traditional development methods.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09160" y="2057400"/>
            <a:ext cx="4206240" cy="1051560"/>
          </a:xfrm>
          <a:prstGeom prst="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194560"/>
            <a:ext cx="411480" cy="411480"/>
          </a:xfrm>
          <a:prstGeom prst="ellipse">
            <a:avLst/>
          </a:prstGeom>
          <a:solidFill>
            <a:srgbClr val="5EA8A7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1488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Discipline Prevents Chaos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49240" y="24688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ADRs ensured architectural consistency and prevented divergent implementations.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3200400"/>
            <a:ext cx="4206240" cy="1051560"/>
          </a:xfrm>
          <a:prstGeom prst="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337560"/>
            <a:ext cx="411480" cy="411480"/>
          </a:xfrm>
          <a:prstGeom prst="ellipse">
            <a:avLst/>
          </a:prstGeom>
          <a:solidFill>
            <a:srgbClr val="5EA8A7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2918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from Day One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" y="36118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enterprise features like data isolation early avoided costly retrofitting later.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3200400"/>
            <a:ext cx="4206240" cy="1051560"/>
          </a:xfrm>
          <a:prstGeom prst="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337560"/>
            <a:ext cx="411480" cy="411480"/>
          </a:xfrm>
          <a:prstGeom prst="ellipse">
            <a:avLst/>
          </a:prstGeom>
          <a:solidFill>
            <a:srgbClr val="5EA8A7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2918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Projects Enables Visibility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49240" y="36118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Roadmaps, milestones, and iterations provided stakeholder visibility throughout.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468880" cy="1280160"/>
          </a:xfrm>
          <a:prstGeom prst="rect">
            <a:avLst>
              <a:gd name="adj" fmla="val 5714"/>
            </a:avLst>
          </a:prstGeom>
          <a:solidFill>
            <a:srgbClr val="3D5066"/>
          </a:solidFill>
          <a:ln w="12700">
            <a:solidFill>
              <a:srgbClr val="5A6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Engagements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Seeking opportunities to deploy on live cloud assessment projects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0" y="1463040"/>
            <a:ext cx="2468880" cy="1280160"/>
          </a:xfrm>
          <a:prstGeom prst="rect">
            <a:avLst>
              <a:gd name="adj" fmla="val 5714"/>
            </a:avLst>
          </a:prstGeom>
          <a:solidFill>
            <a:srgbClr val="3D5066"/>
          </a:solidFill>
          <a:ln w="12700">
            <a:solidFill>
              <a:srgbClr val="5A6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600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Adoption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11880" y="19659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agentic development practices across the organization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2468880" cy="1280160"/>
          </a:xfrm>
          <a:prstGeom prst="rect">
            <a:avLst>
              <a:gd name="adj" fmla="val 5714"/>
            </a:avLst>
          </a:prstGeom>
          <a:solidFill>
            <a:srgbClr val="3D5066"/>
          </a:solidFill>
          <a:ln w="12700">
            <a:solidFill>
              <a:srgbClr val="5A6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600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Transfer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55080" y="19659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for sessions on AI-assisted development tooling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time and attention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4114800"/>
            <a:ext cx="1280160" cy="45720"/>
          </a:xfrm>
          <a:prstGeom prst="rect">
            <a:avLst/>
          </a:prstGeom>
          <a:solidFill>
            <a:srgbClr val="5EA8A7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405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 Highlights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017520"/>
          </a:xfrm>
          <a:prstGeom prst="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AAB7B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Member 1]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transformation story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Testimonial quote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3017520"/>
          </a:xfrm>
          <a:prstGeom prst="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AAB7B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29184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Member 2]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21945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transformation story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Testimonial quote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51760" cy="3017520"/>
          </a:xfrm>
          <a:prstGeom prst="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AAB7B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12648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Member 3]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21945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transformation story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Testimonial quote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405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Sponsor Validation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731520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371600"/>
            <a:ext cx="73152" cy="2286000"/>
          </a:xfrm>
          <a:prstGeom prst="rect">
            <a:avLst/>
          </a:prstGeom>
          <a:solidFill>
            <a:srgbClr val="BF9A4A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55448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"[Placeholder for executive sponsor quote validating the project's impact, team growth, and strategic value to the organization.]"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2926080"/>
            <a:ext cx="640080" cy="640080"/>
          </a:xfrm>
          <a:prstGeom prst="ellipse">
            <a:avLst/>
          </a:prstGeom>
          <a:solidFill>
            <a:srgbClr val="AAB7B8"/>
          </a:solidFill>
          <a:ln w="12700">
            <a:solidFill>
              <a:srgbClr val="2E405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01168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[Executive Name]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[Title, Organization]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added after executive review and approval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Force Assess - Building Enterprise AI with Agentic Development</dc:title>
  <dc:subject>Executive Briefing</dc:subject>
  <dc:creator>AI Force Assess Team</dc:creator>
  <cp:lastModifiedBy>AI Force Assess Team</cp:lastModifiedBy>
  <cp:revision>1</cp:revision>
  <dcterms:created xsi:type="dcterms:W3CDTF">2025-12-01T18:52:44Z</dcterms:created>
  <dcterms:modified xsi:type="dcterms:W3CDTF">2025-12-01T18:52:44Z</dcterms:modified>
</cp:coreProperties>
</file>