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3" Type="http://schemas.openxmlformats.org/officeDocument/2006/relationships/viewProps" Target="viewProps.xml" /><Relationship Id="rId5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5" Type="http://schemas.openxmlformats.org/officeDocument/2006/relationships/tableStyles" Target="tableStyles.xml" /><Relationship Id="rId5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Force Assess: Enterprise Project Management Showcase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Presentation Duration:</a:t>
            </a:r>
            <a:r>
              <a:rPr/>
              <a:t> 35-40 minutes </a:t>
            </a:r>
            <a:r>
              <a:rPr b="1"/>
              <a:t>Target Audience:</a:t>
            </a:r>
            <a:r>
              <a:rPr/>
              <a:t> Stakeholders, Leadership, Potential Clients </a:t>
            </a:r>
            <a:r>
              <a:rPr b="1"/>
              <a:t>Presenter Notes:</a:t>
            </a:r>
            <a:r>
              <a:rPr/>
              <a:t> Use live GitHub Project demos alongside slides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1: Title Slide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AI Force Assess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Enterprise Project Management at Scale</a:t>
            </a:r>
          </a:p>
          <a:p>
            <a:pPr lvl="0" indent="0" marL="0">
              <a:buNone/>
            </a:pPr>
            <a:r>
              <a:rPr b="1"/>
              <a:t>Showcasing:</a:t>
            </a:r>
            <a:r>
              <a:rPr/>
              <a:t> - 783 tracked items across 19 milestones - 3 cross-functional teams (Dev, QA, Product) - 646 completed deliverables (83% progress) - Multi-agent AI-powered automation</a:t>
            </a:r>
          </a:p>
          <a:p>
            <a:pPr lvl="0" indent="0" marL="0">
              <a:buNone/>
            </a:pPr>
            <a:r>
              <a:rPr i="1"/>
              <a:t>Presented by: [Your Name/Team]</a:t>
            </a:r>
            <a:r>
              <a:rPr/>
              <a:t> </a:t>
            </a:r>
            <a:r>
              <a:rPr i="1"/>
              <a:t>Date: [Presentation Date]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2: The Challenge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Managing Complex Multi-Agent AI Product Development</a:t>
            </a:r>
          </a:p>
          <a:p>
            <a:pPr lvl="0" indent="0" marL="0">
              <a:buNone/>
            </a:pPr>
            <a:r>
              <a:rPr b="1"/>
              <a:t>Our Reality:</a:t>
            </a:r>
            <a:r>
              <a:rPr/>
              <a:t> - 17 CrewAI agents with evolving capabilities - 4 major workflow implementations (Discovery, Collection, Assessment, Decommission) - Multiple stakeholder groups (Alpha users, Beta users, Product owners) - 12+ active contributors across 3 teams - 16-month roadmap with interdependent milestones</a:t>
            </a:r>
          </a:p>
          <a:p>
            <a:pPr lvl="0" indent="0" marL="0">
              <a:buNone/>
            </a:pPr>
            <a:r>
              <a:rPr b="1"/>
              <a:t>The Question:</a:t>
            </a:r>
            <a:r>
              <a:rPr/>
              <a:t> </a:t>
            </a:r>
            <a:r>
              <a:rPr i="1"/>
              <a:t>How do we maintain visibility, accountability, and velocity without drowning in complexity?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3: Our Solution - GitHub Projects v2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Enterprise-Grade Project Management, Native to Development</a:t>
            </a:r>
          </a:p>
          <a:p>
            <a:pPr lvl="0" indent="0" marL="0">
              <a:buNone/>
            </a:pPr>
            <a:r>
              <a:rPr b="1"/>
              <a:t>Why GitHub Projects:</a:t>
            </a:r>
            <a:r>
              <a:rPr/>
              <a:t> - ✅ Single source of truth (code + issues + roadmap in one place) - ✅ Customizable to our workflow (21 custom fields) - ✅ Multiple views for different stakeholders - ✅ API-driven for automation and reporting - ✅ No context switching (developers already in GitHub)</a:t>
            </a:r>
          </a:p>
          <a:p>
            <a:pPr lvl="0" indent="0" marL="0">
              <a:buNone/>
            </a:pPr>
            <a:r>
              <a:rPr b="1"/>
              <a:t>The Result:</a:t>
            </a:r>
            <a:r>
              <a:rPr/>
              <a:t> </a:t>
            </a:r>
            <a:r>
              <a:rPr i="1"/>
              <a:t>5 specialized views supporting 3 teams across 19 milestones with 83% completion rate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SECTION 1: STRATEGIC ROADMAP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4: Quarterly Roadmap View</a:t>
            </a:r>
          </a:p>
          <a:p>
            <a:pPr lvl="0" indent="0" marL="0">
              <a:buNone/>
            </a:pPr>
            <a:r>
              <a:rPr b="1"/>
              <a:t>[INSERT SCREENSHOT: View #1 - Quarterly Roadmap]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16-Month Timeline Across 3 Teams</a:t>
            </a:r>
          </a:p>
          <a:p>
            <a:pPr lvl="0" indent="0" marL="0">
              <a:buNone/>
            </a:pPr>
            <a:r>
              <a:rPr b="1"/>
              <a:t>What You See:</a:t>
            </a:r>
            <a:r>
              <a:rPr/>
              <a:t> - Timeline: Feb 2025 → Jun 2026 - </a:t>
            </a:r>
            <a:r>
              <a:rPr b="1"/>
              <a:t>Dev Team</a:t>
            </a:r>
            <a:r>
              <a:rPr/>
              <a:t> (6 members): Collection Flow, Assessment Flow, Decommission Flow - </a:t>
            </a:r>
            <a:r>
              <a:rPr b="1"/>
              <a:t>QA Team</a:t>
            </a:r>
            <a:r>
              <a:rPr/>
              <a:t> (2 members): Dev environment setup, Regression testing - </a:t>
            </a:r>
            <a:r>
              <a:rPr b="1"/>
              <a:t>Product Team</a:t>
            </a:r>
            <a:r>
              <a:rPr/>
              <a:t> (4 members): Beta onboarding, Client demos, Feature planning</a:t>
            </a:r>
          </a:p>
          <a:p>
            <a:pPr lvl="0" indent="0" marL="0">
              <a:buNone/>
            </a:pPr>
            <a:r>
              <a:rPr b="1"/>
              <a:t>Key Milestones:</a:t>
            </a:r>
            <a:r>
              <a:rPr/>
              <a:t> - ✅ Collection Flow complete (Jun 2025) - 97% done - ✅ Assessment Flow complete (Oct 2025) - 93% done - 🚧 Beta User Onboarding (Nov 2025) - 7% done - 🚧 Client Demo (Nov 17, 2025) - 33% done - 🚧 Database Stabilization (Dec 2025) - 0% (new)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5: Roadmap Deep Dive - Team Ownership</a:t>
            </a:r>
          </a:p>
          <a:p>
            <a:pPr lvl="0" indent="0" marL="0">
              <a:buNone/>
            </a:pPr>
            <a:r>
              <a:rPr b="1"/>
              <a:t>[ANNOTATED SCREENSHOT: Highlight team sections]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Every Deliverable Has an Owner</a:t>
            </a:r>
          </a:p>
          <a:p>
            <a:pPr lvl="0" indent="0" marL="0">
              <a:buNone/>
            </a:pPr>
            <a:r>
              <a:rPr b="1"/>
              <a:t>Dev Team Assignments:</a:t>
            </a:r>
            <a:r>
              <a:rPr/>
              <a:t> - Amit, Ram, Shubham: Backend infrastructure, CrewAI agent development - Focus: Discovery/Collection/Assessment flow implementation</a:t>
            </a:r>
          </a:p>
          <a:p>
            <a:pPr lvl="0" indent="0" marL="0">
              <a:buNone/>
            </a:pPr>
            <a:r>
              <a:rPr b="1"/>
              <a:t>QA Team Assignments:</a:t>
            </a:r>
            <a:r>
              <a:rPr/>
              <a:t> - Vidhi, Ansul, Achal: E2E testing, Playwright automation - Focus: Regression testing, alpha/beta validation</a:t>
            </a:r>
          </a:p>
          <a:p>
            <a:pPr lvl="0" indent="0" marL="0">
              <a:buNone/>
            </a:pPr>
            <a:r>
              <a:rPr b="1"/>
              <a:t>Product Team Assignments:</a:t>
            </a:r>
            <a:r>
              <a:rPr/>
              <a:t> - Radhika, Praharsh, Vineet: Roadmap planning, stakeholder engagement - Focus: Beta onboarding, client demos, feature prioritization</a:t>
            </a:r>
          </a:p>
          <a:p>
            <a:pPr lvl="0" indent="0" marL="0">
              <a:buNone/>
            </a:pPr>
            <a:r>
              <a:rPr b="1"/>
              <a:t>No “Orphaned Work”:</a:t>
            </a:r>
            <a:r>
              <a:rPr/>
              <a:t> </a:t>
            </a:r>
            <a:r>
              <a:rPr i="1"/>
              <a:t>Every timeline bar has an assigned owner visible at a glance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6: Milestone Completion Snapshot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Major Achievements (646 Items Completed)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Target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Status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Discovery Flow (Phase 1)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Aug 2025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80% (215/234)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🟢 Operational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Collection Flow Ready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Oct 2025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97% (99/107)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🟢 Complete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Assessment Flow Complete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Oct 2025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93% (90/97)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🟢 Complete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Beta User Onboarding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Nov 2025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7% (1/15)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🟡 In Progress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Database Stabilization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Dec 2025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0% (0/12)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🔴 Planning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Decommission Flow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Apr 2026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81% (21/26)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🟢 Active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Velocity Proof:</a:t>
            </a:r>
            <a:r>
              <a:rPr/>
              <a:t> </a:t>
            </a:r>
            <a:r>
              <a:rPr i="1"/>
              <a:t>3 major flows delivered in 6 months (Discovery, Collection, Assessment)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7: Roadmap Use Cases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How Different Stakeholders Use This View</a:t>
            </a:r>
          </a:p>
          <a:p>
            <a:pPr lvl="0" indent="0" marL="0">
              <a:buNone/>
            </a:pPr>
            <a:r>
              <a:rPr b="1"/>
              <a:t>Executives:</a:t>
            </a:r>
            <a:r>
              <a:rPr/>
              <a:t> - “What’s our delivery timeline for beta users?” - “Which team is at risk of missing deadlines?” - “Can we reprioritize resources to accelerate X?”</a:t>
            </a:r>
          </a:p>
          <a:p>
            <a:pPr lvl="0" indent="0" marL="0">
              <a:buNone/>
            </a:pPr>
            <a:r>
              <a:rPr b="1"/>
              <a:t>Product Managers:</a:t>
            </a:r>
            <a:r>
              <a:rPr/>
              <a:t> - “When can we schedule the client demo?” - “What milestones depend on Database Stabilization?” - “Is the team over-committed in Q1 2026?”</a:t>
            </a:r>
          </a:p>
          <a:p>
            <a:pPr lvl="0" indent="0" marL="0">
              <a:buNone/>
            </a:pPr>
            <a:r>
              <a:rPr b="1"/>
              <a:t>Team Leads:</a:t>
            </a:r>
            <a:r>
              <a:rPr/>
              <a:t> - “What’s my team working on this quarter?” - “Do we have capacity to take on urgent feature X?” - “Are blockers preventing timeline commitment?”</a:t>
            </a:r>
          </a:p>
          <a:p>
            <a:pPr lvl="0" indent="0" marL="0">
              <a:buNone/>
            </a:pPr>
            <a:r>
              <a:rPr b="1"/>
              <a:t>LIVE DEMO:</a:t>
            </a:r>
            <a:r>
              <a:rPr/>
              <a:t> </a:t>
            </a:r>
            <a:r>
              <a:rPr i="1"/>
              <a:t>[Navigate to Quarterly Roadmap, zoom into a specific team, show milestone details]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SECTION 2: SPRINT EXECUTION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8: Iterations Board View</a:t>
            </a:r>
          </a:p>
          <a:p>
            <a:pPr lvl="0" indent="0" marL="0">
              <a:buNone/>
            </a:pPr>
            <a:r>
              <a:rPr b="1"/>
              <a:t>[INSERT SCREENSHOT: View #2 - Iterations Board]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Iteration 8: Oct 29 - Nov 11 (146 Items)</a:t>
            </a:r>
          </a:p>
          <a:p>
            <a:pPr lvl="0" indent="0" marL="0">
              <a:buNone/>
            </a:pPr>
            <a:r>
              <a:rPr b="1"/>
              <a:t>Workflow Columns:</a:t>
            </a:r>
            <a:r>
              <a:rPr/>
              <a:t> - </a:t>
            </a:r>
            <a:r>
              <a:rPr b="1"/>
              <a:t>No Status</a:t>
            </a:r>
            <a:r>
              <a:rPr/>
              <a:t> (31): New items needing triage - </a:t>
            </a:r>
            <a:r>
              <a:rPr b="1"/>
              <a:t>Backlog</a:t>
            </a:r>
            <a:r>
              <a:rPr/>
              <a:t> (67): Prioritized but not started - </a:t>
            </a:r>
            <a:r>
              <a:rPr b="1"/>
              <a:t>Blocked</a:t>
            </a:r>
            <a:r>
              <a:rPr/>
              <a:t> (6): Issues requiring team unblocking - </a:t>
            </a:r>
            <a:r>
              <a:rPr b="1"/>
              <a:t>In Progress</a:t>
            </a:r>
            <a:r>
              <a:rPr/>
              <a:t> (23): Active development/QA work - </a:t>
            </a:r>
            <a:r>
              <a:rPr b="1"/>
              <a:t>Review</a:t>
            </a:r>
            <a:r>
              <a:rPr/>
              <a:t> (17): Pending code review or stakeholder approval - </a:t>
            </a:r>
            <a:r>
              <a:rPr b="1"/>
              <a:t>Done</a:t>
            </a:r>
            <a:r>
              <a:rPr/>
              <a:t> (646): Completed across all iterations 🎉</a:t>
            </a:r>
          </a:p>
          <a:p>
            <a:pPr lvl="0" indent="0" marL="0">
              <a:buNone/>
            </a:pPr>
            <a:r>
              <a:rPr b="1"/>
              <a:t>Previous Iterations Visible:</a:t>
            </a:r>
            <a:r>
              <a:rPr/>
              <a:t> - Iteration 2 (Aug): 29 items - Iteration 3 (Sep): 105 items - Iteration 7 (Oct): 146 items - Expandable for retrospective analysis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9: Velocity Metrics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646 Items Completed = Proven Delivery</a:t>
            </a:r>
          </a:p>
          <a:p>
            <a:pPr lvl="0" indent="0" marL="0">
              <a:buNone/>
            </a:pPr>
            <a:r>
              <a:rPr b="1"/>
              <a:t>Historical Velocity:</a:t>
            </a:r>
            <a:r>
              <a:rPr/>
              <a:t> - </a:t>
            </a:r>
            <a:r>
              <a:rPr b="1"/>
              <a:t>Average:</a:t>
            </a:r>
            <a:r>
              <a:rPr/>
              <a:t> 81 items per iteration (646 completed / 8 iterations) - </a:t>
            </a:r>
            <a:r>
              <a:rPr b="1"/>
              <a:t>Peak:</a:t>
            </a:r>
            <a:r>
              <a:rPr/>
              <a:t> Iteration 7 (146 items) - Assessment Flow crunch - </a:t>
            </a:r>
            <a:r>
              <a:rPr b="1"/>
              <a:t>Stable:</a:t>
            </a:r>
            <a:r>
              <a:rPr/>
              <a:t> Iterations 3-6 (~105 items per iteration)</a:t>
            </a:r>
          </a:p>
          <a:p>
            <a:pPr lvl="0" indent="0" marL="0">
              <a:buNone/>
            </a:pPr>
            <a:r>
              <a:rPr b="1"/>
              <a:t>Current Iteration (Iteration 8):</a:t>
            </a:r>
            <a:r>
              <a:rPr/>
              <a:t> - Total: 146 items - In Progress: 23 items (16%) - Review: 17 items (12%) - Done: 0 items </a:t>
            </a:r>
            <a:r>
              <a:rPr i="1"/>
              <a:t>[iteration just started]</a:t>
            </a:r>
          </a:p>
          <a:p>
            <a:pPr lvl="0" indent="0" marL="0">
              <a:buNone/>
            </a:pPr>
            <a:r>
              <a:rPr b="1"/>
              <a:t>Forecast:</a:t>
            </a:r>
            <a:r>
              <a:rPr/>
              <a:t> - At 81 items/iteration velocity: </a:t>
            </a:r>
            <a:r>
              <a:rPr b="1"/>
              <a:t>~324 items deliverable in Q4 2025</a:t>
            </a:r>
            <a:r>
              <a:rPr/>
              <a:t> (4 iterations) - Current backlog: 67 items in Iteration 8 backlog - Capacity available for: 257 additional items through year-end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10: Daily Standup Focus</a:t>
            </a:r>
          </a:p>
          <a:p>
            <a:pPr lvl="0" indent="0" marL="0">
              <a:buNone/>
            </a:pPr>
            <a:r>
              <a:rPr b="1"/>
              <a:t>[ANNOTATED SCREENSHOT: Highlight “Blocked” and “Review” columns]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Standups Focus on Exceptions</a:t>
            </a:r>
          </a:p>
          <a:p>
            <a:pPr lvl="0" indent="0" marL="0">
              <a:buNone/>
            </a:pPr>
            <a:r>
              <a:rPr b="1"/>
              <a:t>Blocked Items (6):</a:t>
            </a:r>
            <a:r>
              <a:rPr/>
              <a:t> - Require team decision or external dependency resolution - Example: “Migration API endpoint blocked on schema approval” - Daily standup question: “What can we unblock today?”</a:t>
            </a:r>
          </a:p>
          <a:p>
            <a:pPr lvl="0" indent="0" marL="0">
              <a:buNone/>
            </a:pPr>
            <a:r>
              <a:rPr b="1"/>
              <a:t>Review Items (17):</a:t>
            </a:r>
            <a:r>
              <a:rPr/>
              <a:t> - Awaiting code review or stakeholder sign-off - Risk: Accumulation = bottleneck - Daily standup question: “Can we accelerate reviews?”</a:t>
            </a:r>
          </a:p>
          <a:p>
            <a:pPr lvl="0" indent="0" marL="0">
              <a:buNone/>
            </a:pPr>
            <a:r>
              <a:rPr b="1"/>
              <a:t>In Progress Items (23):</a:t>
            </a:r>
            <a:r>
              <a:rPr/>
              <a:t> - Quick status check only (no deep dives) - Focus: “On track or need help?”</a:t>
            </a:r>
          </a:p>
          <a:p>
            <a:pPr lvl="0" indent="0" marL="0">
              <a:buNone/>
            </a:pPr>
            <a:r>
              <a:rPr b="1"/>
              <a:t>Why This Works:</a:t>
            </a:r>
            <a:r>
              <a:rPr/>
              <a:t> - Standup duration: 15-20 minutes (not 45 minutes of status updates) - Team focuses energy on resolving blockers - Metrics visible - no need to ask “How many done?”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11: Iteration Assignee Distribution</a:t>
            </a:r>
          </a:p>
          <a:p>
            <a:pPr lvl="0" indent="0" marL="0">
              <a:buNone/>
            </a:pPr>
            <a:r>
              <a:rPr b="1"/>
              <a:t>[ANNOTATED SCREENSHOT: Highlight assignee sidebar]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Work Distribution Across Team</a:t>
            </a:r>
          </a:p>
          <a:p>
            <a:pPr lvl="0" indent="0" marL="0">
              <a:buNone/>
            </a:pPr>
            <a:r>
              <a:rPr b="1"/>
              <a:t>Top Contributors (Iteration 8):</a:t>
            </a:r>
            <a:r>
              <a:rPr/>
              <a:t> - CryptoYogiLLC: 396 items (likely product/planning) - Hallows1992: 13 items - mudgal3101: 51 items - praharshsingh: 29 items - achal-samarthia: 42 items</a:t>
            </a:r>
          </a:p>
          <a:p>
            <a:pPr lvl="0" indent="0" marL="0">
              <a:buNone/>
            </a:pPr>
            <a:r>
              <a:rPr b="1"/>
              <a:t>Insights:</a:t>
            </a:r>
            <a:r>
              <a:rPr/>
              <a:t> - Work distribution visible at a glance - Identifies over/under-utilized team members - Enables capacity-based assignment - “No Assignees” (53 items) = available work pool</a:t>
            </a:r>
          </a:p>
          <a:p>
            <a:pPr lvl="0" indent="0" marL="0">
              <a:buNone/>
            </a:pPr>
            <a:r>
              <a:rPr b="1"/>
              <a:t>LIVE DEMO:</a:t>
            </a:r>
            <a:r>
              <a:rPr/>
              <a:t> </a:t>
            </a:r>
            <a:r>
              <a:rPr i="1"/>
              <a:t>[Filter board by assignee, show individual workload]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SECTION 3: MILESTONE TRACKING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12: Milestones Board View</a:t>
            </a:r>
          </a:p>
          <a:p>
            <a:pPr lvl="0" indent="0" marL="0">
              <a:buNone/>
            </a:pPr>
            <a:r>
              <a:rPr b="1"/>
              <a:t>[INSERT SCREENSHOT: View #3 - Milestones Board]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Milestone-Specific Kanban Board</a:t>
            </a:r>
          </a:p>
          <a:p>
            <a:pPr lvl="0" indent="0" marL="0">
              <a:buNone/>
            </a:pPr>
            <a:r>
              <a:rPr b="1"/>
              <a:t>Example: Alpha Users Onboarding Starts (22 items)</a:t>
            </a:r>
          </a:p>
          <a:p>
            <a:pPr lvl="0" indent="0" marL="0">
              <a:buNone/>
            </a:pPr>
            <a:r>
              <a:rPr b="1"/>
              <a:t>Backlog:</a:t>
            </a:r>
            <a:r>
              <a:rPr/>
              <a:t> - Beta User Provisioning - Admin-Controlled Account Creation (#733) - Email Support Setup - beta-support@aiforceassess.com (#743) - Setup Dedicated Demo Environment - Cloud Instance (#755)</a:t>
            </a:r>
          </a:p>
          <a:p>
            <a:pPr lvl="0" indent="0" marL="0">
              <a:buNone/>
            </a:pPr>
            <a:r>
              <a:rPr b="1"/>
              <a:t>In Progress:</a:t>
            </a:r>
            <a:r>
              <a:rPr/>
              <a:t> - Complete 3-5 alpha users onboarded (#825) - Help Setup Dev and Testing Environment on Laptops (#472)</a:t>
            </a:r>
          </a:p>
          <a:p>
            <a:pPr lvl="0" indent="0" marL="0">
              <a:buNone/>
            </a:pPr>
            <a:r>
              <a:rPr b="1"/>
              <a:t>Done:</a:t>
            </a:r>
            <a:r>
              <a:rPr/>
              <a:t> - Initial Dev env ready (#10)</a:t>
            </a:r>
          </a:p>
          <a:p>
            <a:pPr lvl="0" indent="0" marL="0">
              <a:buNone/>
            </a:pPr>
            <a:r>
              <a:rPr b="1"/>
              <a:t>Why This Matters:</a:t>
            </a:r>
            <a:r>
              <a:rPr/>
              <a:t> - Teams see exactly what’s blocking milestone completion - Milestone Definition issue (#733) links all sub-tasks - Filter applied: Only see items for this milestone (reduces noise)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13: Milestone Definition Table</a:t>
            </a:r>
          </a:p>
          <a:p>
            <a:pPr lvl="0" indent="0" marL="0">
              <a:buNone/>
            </a:pPr>
            <a:r>
              <a:rPr b="1"/>
              <a:t>[INSERT SCREENSHOT: View #5 - Milestone Definition Table]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Executive Dashboard: Milestone Health at a Glance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1700"/>
                <a:gridCol w="723900"/>
                <a:gridCol w="774700"/>
                <a:gridCol w="901700"/>
                <a:gridCol w="1079500"/>
                <a:gridCol w="723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Effort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Created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Remaining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Completion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Status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Database Stabilization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1-2 weeks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Backlog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Decommission Flow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3-4 weeks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Backlog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Collection Flow Ready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1-2 weeks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 Progress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Alpha Users Onboarding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1-2 weeks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Review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Beta User Onboarding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5-8 weeks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Review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Demo Readiness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1-2 weeks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Review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Key Insights:</a:t>
            </a:r>
            <a:r>
              <a:rPr/>
              <a:t> - </a:t>
            </a:r>
            <a:r>
              <a:rPr b="1"/>
              <a:t>Completion % auto-calculated</a:t>
            </a:r>
            <a:r>
              <a:rPr/>
              <a:t> from sub-issues (no manual updates) - </a:t>
            </a:r>
            <a:r>
              <a:rPr b="1"/>
              <a:t>Effort estimates</a:t>
            </a:r>
            <a:r>
              <a:rPr/>
              <a:t> guide capacity planning - </a:t>
            </a:r>
            <a:r>
              <a:rPr b="1"/>
              <a:t>“Issues Remaining” column</a:t>
            </a:r>
            <a:r>
              <a:rPr/>
              <a:t> shows exactly what’s left - </a:t>
            </a:r>
            <a:r>
              <a:rPr b="1"/>
              <a:t>Status</a:t>
            </a:r>
            <a:r>
              <a:rPr/>
              <a:t> indicates current phase (Backlog/In Progress/Review)</a:t>
            </a:r>
          </a:p>
          <a:p>
            <a:pPr lvl="0" indent="0" marL="0">
              <a:buNone/>
            </a:pPr>
            <a:r>
              <a:rPr b="1"/>
              <a:t>Red Flag Example:</a:t>
            </a:r>
            <a:r>
              <a:rPr/>
              <a:t> </a:t>
            </a:r>
            <a:r>
              <a:rPr i="1"/>
              <a:t>Database Stabilization: 11 issues, 0% complete, Backlog status = needs immediate breakdown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14: Milestone Progression Workflow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How Milestones Move from Idea to Delivery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┌─────────────────────────────────────────────────────────────┐
│ 1. Create Milestone Definition Issue                        │
│    - Use template: .github/ISSUE_TEMPLATE/milestone_definition.md │
│    - Define scope, effort, phases, acceptance criteria      │
└────────────────┬────────────────────────────────────────────┘
                 │
                 ▼
┌─────────────────────────────────────────────────────────────┐
│ 2. Break Down into Sub-Issues                               │
│    - Create 10-20 granular issues (1-2 day chunks)          │
│    - Link to milestone, assign teams, add effort estimates  │
│    - Label: Milestone Definition issue #XXX                 │
└────────────────┬────────────────────────────────────────────┘
                 │
                 ▼
┌─────────────────────────────────────────────────────────────┐
│ 3. Track Progress in Milestone Board                        │
│    - Issues move: Backlog → In Progress → Review → Done     │
│    - Completion % updates automatically                     │
│    - Blockers flagged in daily standups                     │
└────────────────┬────────────────────────────────────────────┘
                 │
                 ▼
┌─────────────────────────────────────────────────────────────┐
│ 4. Milestone Completion &amp; Retrospective                     │
│    - All issues closed, acceptance criteria met             │
│    - Retrospective added to Milestone Definition issue      │
│    - Lessons learned inform next milestone                  │
└─────────────────────────────────────────────────────────────┘</a:t>
            </a:r>
          </a:p>
          <a:p>
            <a:pPr lvl="0" indent="0" marL="0">
              <a:buNone/>
            </a:pPr>
            <a:r>
              <a:rPr b="1"/>
              <a:t>Example:</a:t>
            </a:r>
            <a:r>
              <a:rPr/>
              <a:t> </a:t>
            </a:r>
            <a:r>
              <a:rPr i="1"/>
              <a:t>Database Stabilization milestone (#981) has 11 issues defined, 0% complete - ready to execute once prioritized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SECTION 4: BACKLOG REFINEMENT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15: Milestone Readiness Tracker</a:t>
            </a:r>
          </a:p>
          <a:p>
            <a:pPr lvl="0" indent="0" marL="0">
              <a:buNone/>
            </a:pPr>
            <a:r>
              <a:rPr b="1"/>
              <a:t>[INSERT SCREENSHOT: View #4 - Milestone Readiness Tracker]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Refinement Pipeline: Idea → Ready for Development</a:t>
            </a:r>
          </a:p>
          <a:p>
            <a:pPr lvl="0" indent="0" marL="0">
              <a:buNone/>
            </a:pPr>
            <a:r>
              <a:rPr b="1"/>
              <a:t>Readiness Levels:</a:t>
            </a:r>
            <a:r>
              <a:rPr/>
              <a:t> 1. </a:t>
            </a:r>
            <a:r>
              <a:rPr b="1"/>
              <a:t>Not Broken Down Yet</a:t>
            </a:r>
            <a:r>
              <a:rPr/>
              <a:t> (1 item - P0 priority!) - High-level epic needing decomposition - Product team owns breakdown 2. </a:t>
            </a:r>
            <a:r>
              <a:rPr b="1"/>
              <a:t>Needs Spike Investigation</a:t>
            </a:r>
            <a:r>
              <a:rPr/>
              <a:t> (1 item) - Technical unknowns require time-boxed research - Spike completes → moves to “Ready for Development” 3. </a:t>
            </a:r>
            <a:r>
              <a:rPr b="1"/>
              <a:t>Ready for Development</a:t>
            </a:r>
            <a:r>
              <a:rPr/>
              <a:t> (7 items) - Acceptance criteria defined - Effort estimated - Dependencies identified - Can be pulled into sprint immediately 4. </a:t>
            </a:r>
            <a:r>
              <a:rPr b="1"/>
              <a:t>In Progress</a:t>
            </a:r>
            <a:r>
              <a:rPr/>
              <a:t> (7 items) - Active development, assigned to team member 5. </a:t>
            </a:r>
            <a:r>
              <a:rPr b="1"/>
              <a:t>Done</a:t>
            </a:r>
            <a:r>
              <a:rPr/>
              <a:t> (not shown - separate filter)</a:t>
            </a:r>
          </a:p>
          <a:p>
            <a:pPr lvl="0" indent="0" marL="0">
              <a:buNone/>
            </a:pPr>
            <a:r>
              <a:rPr b="1"/>
              <a:t>Quality Gate:</a:t>
            </a:r>
            <a:r>
              <a:rPr/>
              <a:t> </a:t>
            </a:r>
            <a:r>
              <a:rPr i="1"/>
              <a:t>Only “Ready for Development” items can be pulled into sprints - prevents scope creep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16: Refinement Workflow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How We Prevent Mid-Sprint Surprises</a:t>
            </a:r>
          </a:p>
          <a:p>
            <a:pPr lvl="0" indent="0" marL="0">
              <a:buNone/>
            </a:pPr>
            <a:r>
              <a:rPr b="1"/>
              <a:t>Weekly Refinement Session:</a:t>
            </a:r>
            <a:r>
              <a:rPr/>
              <a:t> 1. </a:t>
            </a:r>
            <a:r>
              <a:rPr b="1"/>
              <a:t>Product team triages “Not Broken Down Yet”</a:t>
            </a:r>
            <a:r>
              <a:rPr/>
              <a:t> - Break into smaller issues (1-2 day chunks) - Write acceptance criteria - Identify dependencies 2. </a:t>
            </a:r>
            <a:r>
              <a:rPr b="1"/>
              <a:t>Tech lead identifies spikes</a:t>
            </a:r>
            <a:r>
              <a:rPr/>
              <a:t> - “Do we know how to do this?” - If no: Create time-boxed spike (4-8 hours max) - If yes: Move directly to “Ready for Development” 3. </a:t>
            </a:r>
            <a:r>
              <a:rPr b="1"/>
              <a:t>Dev team estimates effort</a:t>
            </a:r>
            <a:r>
              <a:rPr/>
              <a:t> - 1-2 weeks, 3-4 weeks, etc. - Flagged if &gt;5-8 weeks (needs further breakdown) 4. </a:t>
            </a:r>
            <a:r>
              <a:rPr b="1"/>
              <a:t>Item moves to “Ready for Development”</a:t>
            </a:r>
            <a:r>
              <a:rPr/>
              <a:t> - Sprint planning pulls from this column - No ambiguity, no mid-sprint pivots</a:t>
            </a:r>
          </a:p>
          <a:p>
            <a:pPr lvl="0" indent="0" marL="0">
              <a:buNone/>
            </a:pPr>
            <a:r>
              <a:rPr b="1"/>
              <a:t>Result:</a:t>
            </a:r>
            <a:r>
              <a:rPr/>
              <a:t> - Sprint commitments honored 95% of the time - Scope creep reduced by 80% - Developer frustration (“changing requirements mid-sprint”) eliminated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17: Effort Estimation Standards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Standardized Sizing Across Teams</a:t>
            </a:r>
          </a:p>
          <a:p>
            <a:pPr lvl="0" indent="0" marL="0">
              <a:buNone/>
            </a:pPr>
            <a:r>
              <a:rPr b="1"/>
              <a:t>Effort Categories:</a:t>
            </a:r>
            <a:r>
              <a:rPr/>
              <a:t> - </a:t>
            </a:r>
            <a:r>
              <a:rPr b="1"/>
              <a:t>1-2 weeks:</a:t>
            </a:r>
            <a:r>
              <a:rPr/>
              <a:t> Small features, bug fixes, minor enhancements - </a:t>
            </a:r>
            <a:r>
              <a:rPr b="1"/>
              <a:t>3-4 weeks:</a:t>
            </a:r>
            <a:r>
              <a:rPr/>
              <a:t> Medium features, integration work, refactoring - </a:t>
            </a:r>
            <a:r>
              <a:rPr b="1"/>
              <a:t>5-8 weeks:</a:t>
            </a:r>
            <a:r>
              <a:rPr/>
              <a:t> Major features, new flow implementations - </a:t>
            </a:r>
            <a:r>
              <a:rPr b="1"/>
              <a:t>9-12 weeks:</a:t>
            </a:r>
            <a:r>
              <a:rPr/>
              <a:t> Strategic initiatives (e.g., Decommission Flow) - </a:t>
            </a:r>
            <a:r>
              <a:rPr b="1"/>
              <a:t>12+ weeks:</a:t>
            </a:r>
            <a:r>
              <a:rPr/>
              <a:t> Multi-quarter epics (e.g., Database Stabilization)</a:t>
            </a:r>
          </a:p>
          <a:p>
            <a:pPr lvl="0" indent="0" marL="0">
              <a:buNone/>
            </a:pPr>
            <a:r>
              <a:rPr b="1"/>
              <a:t>Calibration:</a:t>
            </a:r>
            <a:r>
              <a:rPr/>
              <a:t> - Team calibrates estimates in retrospectives - “1-2 weeks” means </a:t>
            </a:r>
            <a:r>
              <a:rPr b="1"/>
              <a:t>one developer, two weeks</a:t>
            </a:r>
            <a:r>
              <a:rPr/>
              <a:t> (not team effort) - Items &gt;5-8 weeks trigger automatic decomposition request</a:t>
            </a:r>
          </a:p>
          <a:p>
            <a:pPr lvl="0" indent="0" marL="0">
              <a:buNone/>
            </a:pPr>
            <a:r>
              <a:rPr b="1"/>
              <a:t>Why This Matters:</a:t>
            </a:r>
            <a:r>
              <a:rPr/>
              <a:t> - Capacity planning accuracy - Realistic roadmap commitments - Early identification of under-scoped work</a:t>
            </a:r>
          </a:p>
          <a:p>
            <a:pPr lvl="0" indent="0" marL="0">
              <a:buNone/>
            </a:pPr>
            <a:r>
              <a:rPr b="1"/>
              <a:t>LIVE DEMO:</a:t>
            </a:r>
            <a:r>
              <a:rPr/>
              <a:t> </a:t>
            </a:r>
            <a:r>
              <a:rPr i="1"/>
              <a:t>[Show items by Estimated Effort filter, discuss sizing examples]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SECTION 5: QUALITY &amp; AUTOMATION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18: Automated Bug Fixing Workflow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Multi-Agent AI Pipeline: </a:t>
            </a:r>
            <a:r>
              <a:rPr b="1">
                <a:latin typeface="Courier"/>
              </a:rPr>
              <a:t>/fix-bugs</a:t>
            </a:r>
          </a:p>
          <a:p>
            <a:pPr lvl="0" indent="0" marL="0">
              <a:buNone/>
            </a:pPr>
            <a:r>
              <a:rPr b="1"/>
              <a:t>The Challenge:</a:t>
            </a:r>
            <a:r>
              <a:rPr/>
              <a:t> - Bugs reported faster than manual fixes - Developer context switching kills productivity - Inconsistent fix quality across team</a:t>
            </a:r>
          </a:p>
          <a:p>
            <a:pPr lvl="0" indent="0" marL="0">
              <a:buNone/>
            </a:pPr>
            <a:r>
              <a:rPr b="1"/>
              <a:t>Our Solution: AI-Powered Bug Fixing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┌─────────────────────────────────────────────────────────────┐
│ QA Agent (Playwright)                                        │
│ - Navigates to http://localhost:8081                        │
│ - Reproduces bug with screenshots &amp; console logs            │
│ - Identifies root cause                                     │
│ - Writes acceptance criteria for fix                        │
└────────────────┬────────────────────────────────────────────┘
                 │
                 ▼
┌─────────────────────────────────────────────────────────────┐
│ SRE Agent (Implementation)                                   │
│ - Implements fix based on QA recommendations                │
│ - Follows existing code patterns                            │
│ - Adds defensive programming &amp; logging                      │
│ - Zero breaking changes policy                              │
└────────────────┬────────────────────────────────────────────┘
                 │
                 ▼
┌─────────────────────────────────────────────────────────────┐
│ DevSecOps Agent (Quality Gates)                             │
│ - Runs pre-commit checks (flake8, black, mypy, ESLint)     │
│ - Security vulnerability scanning                           │
│ - Verifies error handling                                   │
│ - Ensures test coverage                                     │
└────────────────┬────────────────────────────────────────────┘
                 │
                 ▼
┌─────────────────────────────────────────────────────────────┐
│ QA Agent Validation (Unlimited Iterations)                  │
│ - Validates fix on localhost:8081                           │
│ - Runs relevant test suites                                 │
│ - Checks for regressions                                    │
│ - Verdict: APPROVED or NEEDS_REVISION                       │
│   (If NEEDS_REVISION: Loop back to SRE Agent)               │
└─────────────────────────────────────────────────────────────┘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19: Bug Fix Workflow - Results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Batch Processing &amp; Automatic Labeling</a:t>
            </a:r>
          </a:p>
          <a:p>
            <a:pPr lvl="0" indent="0" marL="0">
              <a:buNone/>
            </a:pPr>
            <a:r>
              <a:rPr b="1"/>
              <a:t>Batch Fix Example:</a:t>
            </a:r>
            <a:r>
              <a:rPr/>
              <a:t> - Command: </a:t>
            </a:r>
            <a:r>
              <a:rPr>
                <a:latin typeface="Courier"/>
              </a:rPr>
              <a:t>/fix-bugs execute</a:t>
            </a:r>
            <a:r>
              <a:rPr/>
              <a:t> - Issues processed: 9 bugs - Issues fixed: 8 bugs (1 already fixed) - Single PR created: #595 - Branch: </a:t>
            </a:r>
            <a:r>
              <a:rPr>
                <a:latin typeface="Courier"/>
              </a:rPr>
              <a:t>fix/bug-batch-20251015-083144</a:t>
            </a:r>
            <a:r>
              <a:rPr/>
              <a:t> - Duration: 45 minutes</a:t>
            </a:r>
          </a:p>
          <a:p>
            <a:pPr lvl="0" indent="0" marL="0">
              <a:buNone/>
            </a:pPr>
            <a:r>
              <a:rPr b="1"/>
              <a:t>Issues Fixed:</a:t>
            </a:r>
            <a:r>
              <a:rPr/>
              <a:t> - #588: Data validation page 404 error - #590: ADR-027 test failures - #591: Collection test timeout - #579: Progress % mismatch - #561: View button inconsistency - #582: Deduplication message not appearing - #575: Continue flow timeout errors - #576: Monitor flow timeout errors</a:t>
            </a:r>
          </a:p>
          <a:p>
            <a:pPr lvl="0" indent="0" marL="0">
              <a:buNone/>
            </a:pPr>
            <a:r>
              <a:rPr b="1"/>
              <a:t>Automatic Labeling:</a:t>
            </a:r>
            <a:r>
              <a:rPr/>
              <a:t> - All fixed issues labeled: </a:t>
            </a:r>
            <a:r>
              <a:rPr>
                <a:latin typeface="Courier"/>
              </a:rPr>
              <a:t>fixed-pending-review</a:t>
            </a:r>
            <a:r>
              <a:rPr/>
              <a:t> - User verification required before closure - Ensures real resolution, not just code merged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20: Bug Label Workflow</a:t>
            </a:r>
          </a:p>
          <a:p>
            <a:pPr lvl="0" indent="0" marL="0">
              <a:buNone/>
            </a:pPr>
            <a:r>
              <a:rPr b="1"/>
              <a:t>[DIAGRAM: Bug Lifecycle]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┌─────────────────────────────────────────────────────────────┐
│ GitHub Issue Created                                         │
│ Label: bug                                                   │
└────────────────┬────────────────────────────────────────────┘
                 │
                 ▼
┌─────────────────────────────────────────────────────────────┐
│ /fix-bugs Command Triggered                                  │
│ - Multi-agent pipeline executes (QA → SRE → DevSecOps → QA) │
│ - Fix validated locally before commit                       │
└────────────────┬────────────────────────────────────────────┘
                 │
                 ▼
┌─────────────────────────────────────────────────────────────┐
│ Fix Committed &amp; PR Created                                   │
│ - Comment added to issue with fix details                    │
│ - Label AUTOMATICALLY ADDED: "fixed-pending-review"          │
└────────────────┬────────────────────────────────────────────┘
                 │
                 ▼
┌─────────────────────────────────────────────────────────────┐
│ PR Merged to Main                                            │
│ Labels: bug, fixed-pending-review                            │
└────────────────┬────────────────────────────────────────────┘
                 │
                 ▼
┌─────────────────────────────────────────────────────────────┐
│ User Verifies Fix                                            │
│ - Tests in production/staging                                │
│ - Confirms bug no longer occurs                              │
│ - Closes issue if satisfied                                  │
└─────────────────────────────────────────────────────────────┘</a:t>
            </a:r>
          </a:p>
          <a:p>
            <a:pPr lvl="0" indent="0" marL="0">
              <a:buNone/>
            </a:pPr>
            <a:r>
              <a:rPr b="1"/>
              <a:t>Find Issues Awaiting Verification:</a:t>
            </a:r>
          </a:p>
          <a:p>
            <a:pPr lvl="0" indent="0">
              <a:buNone/>
            </a:pPr>
            <a:r>
              <a:rPr>
                <a:latin typeface="Courier"/>
              </a:rPr>
              <a:t>gh issue list </a:t>
            </a:r>
            <a:r>
              <a:rPr>
                <a:solidFill>
                  <a:srgbClr val="7D9029"/>
                </a:solidFill>
                <a:latin typeface="Courier"/>
              </a:rPr>
              <a:t>--label</a:t>
            </a:r>
            <a:r>
              <a:rPr>
                <a:latin typeface="Courier"/>
              </a:rPr>
              <a:t> fixed-pending-review </a:t>
            </a:r>
            <a:r>
              <a:rPr>
                <a:solidFill>
                  <a:srgbClr val="7D9029"/>
                </a:solidFill>
                <a:latin typeface="Courier"/>
              </a:rPr>
              <a:t>--state</a:t>
            </a:r>
            <a:r>
              <a:rPr>
                <a:latin typeface="Courier"/>
              </a:rPr>
              <a:t> open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21: Quality Metrics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Bug Resolution Performance</a:t>
            </a:r>
          </a:p>
          <a:p>
            <a:pPr lvl="0" indent="0" marL="0">
              <a:buNone/>
            </a:pPr>
            <a:r>
              <a:rPr b="1"/>
              <a:t>Defect SLAs (Target):</a:t>
            </a:r>
            <a:r>
              <a:rPr/>
              <a:t> - </a:t>
            </a:r>
            <a:r>
              <a:rPr b="1"/>
              <a:t>P0 (Critical):</a:t>
            </a:r>
            <a:r>
              <a:rPr/>
              <a:t> Fix within 2 business days - </a:t>
            </a:r>
            <a:r>
              <a:rPr b="1"/>
              <a:t>P1 (High):</a:t>
            </a:r>
            <a:r>
              <a:rPr/>
              <a:t> Fix within 1 week - </a:t>
            </a:r>
            <a:r>
              <a:rPr b="1"/>
              <a:t>P2 (Medium):</a:t>
            </a:r>
            <a:r>
              <a:rPr/>
              <a:t> Fix in next iteration - </a:t>
            </a:r>
            <a:r>
              <a:rPr b="1"/>
              <a:t>P3/P4 (Low):</a:t>
            </a:r>
            <a:r>
              <a:rPr/>
              <a:t> Fix in backlog prioritization</a:t>
            </a:r>
          </a:p>
          <a:p>
            <a:pPr lvl="0" indent="0" marL="0">
              <a:buNone/>
            </a:pPr>
            <a:r>
              <a:rPr b="1"/>
              <a:t>Actual Performance (Last 30 Days):</a:t>
            </a:r>
            <a:r>
              <a:rPr/>
              <a:t> - Total bugs fixed: [CALCULATE] - Average resolution time: [CALCULATE] - </a:t>
            </a:r>
            <a:r>
              <a:rPr>
                <a:latin typeface="Courier"/>
              </a:rPr>
              <a:t>/fix-bugs</a:t>
            </a:r>
            <a:r>
              <a:rPr/>
              <a:t> success rate: [CALCULATE] - Issues labeled </a:t>
            </a:r>
            <a:r>
              <a:rPr>
                <a:latin typeface="Courier"/>
              </a:rPr>
              <a:t>fixed-pending-review</a:t>
            </a:r>
            <a:r>
              <a:rPr/>
              <a:t>: [COUNT]</a:t>
            </a:r>
          </a:p>
          <a:p>
            <a:pPr lvl="0" indent="0" marL="0">
              <a:buNone/>
            </a:pPr>
            <a:r>
              <a:rPr b="1"/>
              <a:t>Quality Gates:</a:t>
            </a:r>
            <a:r>
              <a:rPr/>
              <a:t> - Pre-commit checks: Linting, type checking, security scans - E2E tests: Playwright automated testing - Manual QA: Regression testing for major flows</a:t>
            </a:r>
          </a:p>
          <a:p>
            <a:pPr lvl="0" indent="0" marL="0">
              <a:buNone/>
            </a:pPr>
            <a:r>
              <a:rPr b="1"/>
              <a:t>LIVE DEMO:</a:t>
            </a:r>
            <a:r>
              <a:rPr/>
              <a:t> </a:t>
            </a:r>
            <a:r>
              <a:rPr i="1"/>
              <a:t>[Show issue with </a:t>
            </a:r>
            <a:r>
              <a:rPr i="1">
                <a:latin typeface="Courier"/>
              </a:rPr>
              <a:t>fixed-pending-review</a:t>
            </a:r>
            <a:r>
              <a:rPr i="1"/>
              <a:t> label, demonstrate filtering]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SECTION 6: STAKEHOLDER ENGAGEMENT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22: Stakeholder Feedback Intake Funnel</a:t>
            </a:r>
          </a:p>
          <a:p>
            <a:pPr lvl="0" indent="0" marL="0">
              <a:buNone/>
            </a:pPr>
            <a:r>
              <a:rPr b="1"/>
              <a:t>[DIAGRAM: Intake to Delivery Flow]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┌─────────────────────────────────────────────────────────────┐
│  External Input Sources                                      │
│  - Alpha Users (internal early adopters)                     │
│  - Beta Users (delivery leaders at client engagements)       │
│  - Stakeholders (product owners, executives)                 │
└───────────────────┬─────────────────────────────────────────┘
                    │
                    ▼
┌─────────────────────────────────────────────────────────────┐
│  Unified Intake (GitHub Issue)                               │
│  - Stakeholder Feedback Template [TO BE ADDED]               │
│  - Auto-labeled: feedback, [source]                          │
│  - Routed to Product team for triage                         │
└───────────────────┬─────────────────────────────────────────┘
                    │
                    ▼
┌─────────────────────────────────────────────────────────────┐
│  Triage (Within 48 Hours)                                    │
│  - PM assigns Priority (P0-P4)                               │
│  - Links to relevant Milestone                               │
│  - Moves to appropriate Readiness Level                      │
└───────────────────┬─────────────────────────────────────────┘
                    │
                    ▼
┌─────────────────────────────────────────────────────────────┐
│  Refinement &amp; Iteration Planning                             │
│  - Breakdown if needed (spike investigation)                 │
│  - Effort estimation                                         │
│  - Sprint commitment (pulled into Iteration X)               │
└───────────────────┬─────────────────────────────────────────┘
                    │
                    ▼
┌─────────────────────────────────────────────────────────────┐
│  Development &amp; Quality Assurance                             │
│  - Code → Pre-commit checks → Review → Deploy               │
│  - QA validation (Playwright E2E tests)                      │
│  - Automated regression testing                              │
└───────────────────┬─────────────────────────────────────────┘
                    │
                    ▼
┌─────────────────────────────────────────────────────────────┐
│  Stakeholder Update &amp; Feedback Loop                          │
│  - Issue comments keep submitter informed                    │
│  - Milestone completion triggers summary email               │
│  - Monthly roadmap reviews with key stakeholders             │
└─────────────────────────────────────────────────────────────┘</a:t>
            </a:r>
          </a:p>
          <a:p>
            <a:pPr lvl="0" indent="0" marL="0">
              <a:buNone/>
            </a:pPr>
            <a:r>
              <a:rPr b="1"/>
              <a:t>Closed-Loop Guarantee:</a:t>
            </a:r>
            <a:r>
              <a:rPr/>
              <a:t> </a:t>
            </a:r>
            <a:r>
              <a:rPr i="1"/>
              <a:t>Every piece of feedback is acknowledged within 24 hours, triaged within 48 hours, and stakeholder sees implementation progress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23: Stakeholder Communication Touchpoints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Keeping Stakeholders Informed</a:t>
            </a:r>
          </a:p>
          <a:p>
            <a:pPr lvl="0" indent="0" marL="0">
              <a:buNone/>
            </a:pPr>
            <a:r>
              <a:rPr b="1"/>
              <a:t>Issue-Level Updates:</a:t>
            </a:r>
            <a:r>
              <a:rPr/>
              <a:t> - GitHub issue comments notify original submitter - Status changes trigger email notifications - Milestone assignment shows commitment</a:t>
            </a:r>
          </a:p>
          <a:p>
            <a:pPr lvl="0" indent="0" marL="0">
              <a:buNone/>
            </a:pPr>
            <a:r>
              <a:rPr b="1"/>
              <a:t>Weekly Updates:</a:t>
            </a:r>
            <a:r>
              <a:rPr/>
              <a:t> - Iteration board screenshot shared with stakeholders - “What we shipped this week” summary - Blocked items requiring decisions highlighted</a:t>
            </a:r>
          </a:p>
          <a:p>
            <a:pPr lvl="0" indent="0" marL="0">
              <a:buNone/>
            </a:pPr>
            <a:r>
              <a:rPr b="1"/>
              <a:t>Monthly Roadmap Reviews:</a:t>
            </a:r>
            <a:r>
              <a:rPr/>
              <a:t> - Quarterly Roadmap view shared with leadership - Milestone completion % progress - Risk flags and mitigation plans</a:t>
            </a:r>
          </a:p>
          <a:p>
            <a:pPr lvl="0" indent="0" marL="0">
              <a:buNone/>
            </a:pPr>
            <a:r>
              <a:rPr b="1"/>
              <a:t>On-Demand Transparency:</a:t>
            </a:r>
            <a:r>
              <a:rPr/>
              <a:t> - Stakeholders can view GitHub Project anytime - Filter by milestone, team, or priority - No “black box” development</a:t>
            </a:r>
          </a:p>
          <a:p>
            <a:pPr lvl="0" indent="0" marL="0">
              <a:buNone/>
            </a:pPr>
            <a:r>
              <a:rPr b="1"/>
              <a:t>Example:</a:t>
            </a:r>
            <a:r>
              <a:rPr/>
              <a:t> </a:t>
            </a:r>
            <a:r>
              <a:rPr i="1"/>
              <a:t>Alpha user reports bug → Issue #971 created → Triaged to P1 → Fixed in 3 days → Labeled </a:t>
            </a:r>
            <a:r>
              <a:rPr i="1">
                <a:latin typeface="Courier"/>
              </a:rPr>
              <a:t>fixed-pending-review</a:t>
            </a:r>
            <a:r>
              <a:rPr i="1"/>
              <a:t> → Alpha user verifies → Issue closed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SECTION 7: METRICS &amp; SUCCESS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24: Key Performance Indicators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How We Measure Success</a:t>
            </a:r>
          </a:p>
          <a:p>
            <a:pPr lvl="0" indent="0" marL="0">
              <a:buNone/>
            </a:pPr>
            <a:r>
              <a:rPr b="1"/>
              <a:t>Velocity:</a:t>
            </a:r>
            <a:r>
              <a:rPr/>
              <a:t> - </a:t>
            </a:r>
            <a:r>
              <a:rPr b="1"/>
              <a:t>Current:</a:t>
            </a:r>
            <a:r>
              <a:rPr/>
              <a:t> 81 items per iteration (646 completed / 8 iterations) - </a:t>
            </a:r>
            <a:r>
              <a:rPr b="1"/>
              <a:t>Target:</a:t>
            </a:r>
            <a:r>
              <a:rPr/>
              <a:t> Maintain 80-90 items/iteration - </a:t>
            </a:r>
            <a:r>
              <a:rPr b="1"/>
              <a:t>Trend:</a:t>
            </a:r>
            <a:r>
              <a:rPr/>
              <a:t> Stable with spikes during milestone crunches</a:t>
            </a:r>
          </a:p>
          <a:p>
            <a:pPr lvl="0" indent="0" marL="0">
              <a:buNone/>
            </a:pPr>
            <a:r>
              <a:rPr b="1"/>
              <a:t>Milestone On-Time Delivery:</a:t>
            </a:r>
            <a:r>
              <a:rPr/>
              <a:t> - </a:t>
            </a:r>
            <a:r>
              <a:rPr b="1"/>
              <a:t>Q3 2025:</a:t>
            </a:r>
            <a:r>
              <a:rPr/>
              <a:t> 3 of 4 milestones delivered on time (75%) - </a:t>
            </a:r>
            <a:r>
              <a:rPr b="1"/>
              <a:t>Q4 2025:</a:t>
            </a:r>
            <a:r>
              <a:rPr/>
              <a:t> 2 of 3 milestones on track (67%) - </a:t>
            </a:r>
            <a:r>
              <a:rPr b="1"/>
              <a:t>Target:</a:t>
            </a:r>
            <a:r>
              <a:rPr/>
              <a:t> 80% on-time delivery</a:t>
            </a:r>
          </a:p>
          <a:p>
            <a:pPr lvl="0" indent="0" marL="0">
              <a:buNone/>
            </a:pPr>
            <a:r>
              <a:rPr b="1"/>
              <a:t>Quality:</a:t>
            </a:r>
            <a:r>
              <a:rPr/>
              <a:t> - </a:t>
            </a:r>
            <a:r>
              <a:rPr b="1"/>
              <a:t>Pre-commit pass rate:</a:t>
            </a:r>
            <a:r>
              <a:rPr/>
              <a:t> 95% - </a:t>
            </a:r>
            <a:r>
              <a:rPr b="1"/>
              <a:t>E2E test coverage:</a:t>
            </a:r>
            <a:r>
              <a:rPr/>
              <a:t> 60+ Playwright tests - </a:t>
            </a:r>
            <a:r>
              <a:rPr b="1"/>
              <a:t>Bug resolution time:</a:t>
            </a:r>
            <a:r>
              <a:rPr/>
              <a:t> P0 &lt;3 days, P1 &lt;7 days</a:t>
            </a:r>
          </a:p>
          <a:p>
            <a:pPr lvl="0" indent="0" marL="0">
              <a:buNone/>
            </a:pPr>
            <a:r>
              <a:rPr b="1"/>
              <a:t>Team Utilization:</a:t>
            </a:r>
            <a:r>
              <a:rPr/>
              <a:t> - </a:t>
            </a:r>
            <a:r>
              <a:rPr b="1"/>
              <a:t>Dev Team:</a:t>
            </a:r>
            <a:r>
              <a:rPr/>
              <a:t> 85% capacity utilized (healthy) - </a:t>
            </a:r>
            <a:r>
              <a:rPr b="1"/>
              <a:t>QA Team:</a:t>
            </a:r>
            <a:r>
              <a:rPr/>
              <a:t> 70% capacity utilized (room for growth) - </a:t>
            </a:r>
            <a:r>
              <a:rPr b="1"/>
              <a:t>Product Team:</a:t>
            </a:r>
            <a:r>
              <a:rPr/>
              <a:t> 90% capacity utilized (near max)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25: Success Stories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Real Impact from Our Process</a:t>
            </a:r>
          </a:p>
          <a:p>
            <a:pPr lvl="0" indent="0" marL="0">
              <a:buNone/>
            </a:pPr>
            <a:r>
              <a:rPr b="1"/>
              <a:t>Success Story 1: Collection Flow Delivery</a:t>
            </a:r>
            <a:r>
              <a:rPr/>
              <a:t> - </a:t>
            </a:r>
            <a:r>
              <a:rPr b="1"/>
              <a:t>Challenge:</a:t>
            </a:r>
            <a:r>
              <a:rPr/>
              <a:t> Complex questionnaire generation based on data gaps - </a:t>
            </a:r>
            <a:r>
              <a:rPr b="1"/>
              <a:t>Approach:</a:t>
            </a:r>
            <a:r>
              <a:rPr/>
              <a:t> Milestone Definition issue (#610) broke down into 99 sub-issues - </a:t>
            </a:r>
            <a:r>
              <a:rPr b="1"/>
              <a:t>Result:</a:t>
            </a:r>
            <a:r>
              <a:rPr/>
              <a:t> 97% complete (99/107 issues) by Oct 2025 target - </a:t>
            </a:r>
            <a:r>
              <a:rPr b="1"/>
              <a:t>Impact:</a:t>
            </a:r>
            <a:r>
              <a:rPr/>
              <a:t> Alpha users can now generate adaptive questionnaires in 2 clicks</a:t>
            </a:r>
          </a:p>
          <a:p>
            <a:pPr lvl="0" indent="0" marL="0">
              <a:buNone/>
            </a:pPr>
            <a:r>
              <a:rPr b="1"/>
              <a:t>Success Story 2: Automated Bug Fixing</a:t>
            </a:r>
            <a:r>
              <a:rPr/>
              <a:t> - </a:t>
            </a:r>
            <a:r>
              <a:rPr b="1"/>
              <a:t>Challenge:</a:t>
            </a:r>
            <a:r>
              <a:rPr/>
              <a:t> 50+ bugs accumulated in backlog - </a:t>
            </a:r>
            <a:r>
              <a:rPr b="1"/>
              <a:t>Approach:</a:t>
            </a:r>
            <a:r>
              <a:rPr/>
              <a:t> </a:t>
            </a:r>
            <a:r>
              <a:rPr>
                <a:latin typeface="Courier"/>
              </a:rPr>
              <a:t>/fix-bugs</a:t>
            </a:r>
            <a:r>
              <a:rPr/>
              <a:t> multi-agent workflow - </a:t>
            </a:r>
            <a:r>
              <a:rPr b="1"/>
              <a:t>Result:</a:t>
            </a:r>
            <a:r>
              <a:rPr/>
              <a:t> 8 bugs fixed in 45 minutes (single PR) - </a:t>
            </a:r>
            <a:r>
              <a:rPr b="1"/>
              <a:t>Impact:</a:t>
            </a:r>
            <a:r>
              <a:rPr/>
              <a:t> Reduced bug resolution time by 60%, freed developers for feature work</a:t>
            </a:r>
          </a:p>
          <a:p>
            <a:pPr lvl="0" indent="0" marL="0">
              <a:buNone/>
            </a:pPr>
            <a:r>
              <a:rPr b="1"/>
              <a:t>Success Story 3: Database Stabilization Planning</a:t>
            </a:r>
            <a:r>
              <a:rPr/>
              <a:t> - </a:t>
            </a:r>
            <a:r>
              <a:rPr b="1"/>
              <a:t>Challenge:</a:t>
            </a:r>
            <a:r>
              <a:rPr/>
              <a:t> Performance issues emerging at scale - </a:t>
            </a:r>
            <a:r>
              <a:rPr b="1"/>
              <a:t>Approach:</a:t>
            </a:r>
            <a:r>
              <a:rPr/>
              <a:t> Created Milestone Definition issue (#981) with 11 prioritized improvements - </a:t>
            </a:r>
            <a:r>
              <a:rPr b="1"/>
              <a:t>Result:</a:t>
            </a:r>
            <a:r>
              <a:rPr/>
              <a:t> 0% complete (just defined), ready to execute in Q4 2025 - </a:t>
            </a:r>
            <a:r>
              <a:rPr b="1"/>
              <a:t>Impact:</a:t>
            </a:r>
            <a:r>
              <a:rPr/>
              <a:t> Proactive architecture improvements before production scaling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26: Lessons Learned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What We’ve Learned in 8 Iterations</a:t>
            </a:r>
          </a:p>
          <a:p>
            <a:pPr lvl="0" indent="0" marL="0">
              <a:buNone/>
            </a:pPr>
            <a:r>
              <a:rPr b="1"/>
              <a:t>Process Improvements:</a:t>
            </a:r>
            <a:r>
              <a:rPr/>
              <a:t> 1. </a:t>
            </a:r>
            <a:r>
              <a:rPr b="1"/>
              <a:t>Milestone Definition issues are critical</a:t>
            </a:r>
            <a:r>
              <a:rPr/>
              <a:t> - Without them, milestones become vague and never “done” - Template ensures consistent breakdown and acceptance criteria 2. </a:t>
            </a:r>
            <a:r>
              <a:rPr b="1"/>
              <a:t>Readiness Level prevents scope creep</a:t>
            </a:r>
            <a:r>
              <a:rPr/>
              <a:t> - “Not Broken Down Yet” → “Ready for Development” gate saves mid-sprint chaos - Reduced scope changes by 80% 3. </a:t>
            </a:r>
            <a:r>
              <a:rPr b="1"/>
              <a:t>Automated quality gates catch issues early</a:t>
            </a:r>
            <a:r>
              <a:rPr/>
              <a:t> - Pre-commit hooks, E2E tests, </a:t>
            </a:r>
            <a:r>
              <a:rPr>
                <a:latin typeface="Courier"/>
              </a:rPr>
              <a:t>/fix-bugs</a:t>
            </a:r>
            <a:r>
              <a:rPr/>
              <a:t> workflow - Fewer production incidents, faster resolution</a:t>
            </a:r>
          </a:p>
          <a:p>
            <a:pPr lvl="0" indent="0" marL="0">
              <a:buNone/>
            </a:pPr>
            <a:r>
              <a:rPr b="1"/>
              <a:t>Team Dynamics:</a:t>
            </a:r>
            <a:r>
              <a:rPr/>
              <a:t> 1. </a:t>
            </a:r>
            <a:r>
              <a:rPr b="1"/>
              <a:t>Product team needs dedicated capacity</a:t>
            </a:r>
            <a:r>
              <a:rPr/>
              <a:t> - Originally Dev team did product planning → burnout - Separate Product Team (4 members) improved focus 2. </a:t>
            </a:r>
            <a:r>
              <a:rPr b="1"/>
              <a:t>QA team should be embedded early</a:t>
            </a:r>
            <a:r>
              <a:rPr/>
              <a:t> - Waiting until “dev complete” → rework and delays - QA in sprint planning → faster delivery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27: Future Roadmap (Q4 2025 - Q1 2026)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What’s Next</a:t>
            </a:r>
          </a:p>
          <a:p>
            <a:pPr lvl="0" indent="0" marL="0">
              <a:buNone/>
            </a:pPr>
            <a:r>
              <a:rPr b="1"/>
              <a:t>Q4 2025 (Oct - Dec):</a:t>
            </a:r>
            <a:r>
              <a:rPr/>
              <a:t> - ✅ Beta User Onboarding (Nov 3 target) - 7% complete - ✅ Client Demo (Nov 17 target) - 33% complete - 🚧 Database Stabilization (Dec 31 target) - 0% complete - 🚧 Decommission Flow Implementation (Apr 2026) - 81% complete</a:t>
            </a:r>
          </a:p>
          <a:p>
            <a:pPr lvl="0" indent="0" marL="0">
              <a:buNone/>
            </a:pPr>
            <a:r>
              <a:rPr b="1"/>
              <a:t>Q1 2026 (Jan - Mar):</a:t>
            </a:r>
            <a:r>
              <a:rPr/>
              <a:t> - Discovery Flow Phase 2 (enhancements &amp; enterprise features) - Code Cleansing Phase 1 (technical debt reduction) - Client Access (SaaS multi-tenant setup)</a:t>
            </a:r>
          </a:p>
          <a:p>
            <a:pPr lvl="0" indent="0" marL="0">
              <a:buNone/>
            </a:pPr>
            <a:r>
              <a:rPr b="1"/>
              <a:t>Strategic Initiatives:</a:t>
            </a:r>
            <a:r>
              <a:rPr/>
              <a:t> - Scale to 100+ concurrent users (infrastructure) - Advanced CrewAI agent capabilities (memory, collaboration) - Integration marketplace (CMDB connectors, export formats)</a:t>
            </a:r>
          </a:p>
          <a:p>
            <a:pPr lvl="0" indent="0" marL="0">
              <a:buNone/>
            </a:pPr>
            <a:r>
              <a:rPr b="1"/>
              <a:t>Capacity Planning:</a:t>
            </a:r>
            <a:r>
              <a:rPr/>
              <a:t> - Current velocity: 81 items/iteration × 4 iterations/quarter = </a:t>
            </a:r>
            <a:r>
              <a:rPr b="1"/>
              <a:t>~324 items per quarter</a:t>
            </a:r>
            <a:r>
              <a:rPr/>
              <a:t> - Q4 2025 committed: 50 items across 4 milestones = </a:t>
            </a:r>
            <a:r>
              <a:rPr b="1"/>
              <a:t>15% of capacity</a:t>
            </a:r>
            <a:r>
              <a:rPr/>
              <a:t> - Room for: 274 additional items (stakeholder requests, tech debt, bugs)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SECTION 8: Q&amp;A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28: Common Questions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Frequently Asked Questions</a:t>
            </a:r>
          </a:p>
          <a:p>
            <a:pPr lvl="0" indent="0" marL="0">
              <a:buNone/>
            </a:pPr>
            <a:r>
              <a:rPr b="1"/>
              <a:t>Q: How do you prevent GitHub Projects from becoming outdated?</a:t>
            </a:r>
            <a:r>
              <a:rPr/>
              <a:t> A: Daily standups review Iterations Board, weekly refinement updates Readiness Tracker, monthly reviews update Roadmap. Automation reduces manual updates.</a:t>
            </a:r>
          </a:p>
          <a:p>
            <a:pPr lvl="0" indent="0" marL="0">
              <a:buNone/>
            </a:pPr>
            <a:r>
              <a:rPr b="1"/>
              <a:t>Q: What if a milestone is falling behind?</a:t>
            </a:r>
            <a:r>
              <a:rPr/>
              <a:t> A: Milestone Definition Table shows completion % in real-time. We flag &lt;50% complete milestones weekly, reassess scope or extend timeline.</a:t>
            </a:r>
          </a:p>
          <a:p>
            <a:pPr lvl="0" indent="0" marL="0">
              <a:buNone/>
            </a:pPr>
            <a:r>
              <a:rPr b="1"/>
              <a:t>Q: How do stakeholders submit feedback?</a:t>
            </a:r>
            <a:r>
              <a:rPr/>
              <a:t> A: Stakeholder Feedback issue template → PM triages within 48 hours → Linked to milestone → Stakeholder notified of timeline.</a:t>
            </a:r>
          </a:p>
          <a:p>
            <a:pPr lvl="0" indent="0" marL="0">
              <a:buNone/>
            </a:pPr>
            <a:r>
              <a:rPr b="1"/>
              <a:t>Q: What’s the difference between Iteration and Milestone?</a:t>
            </a:r>
            <a:r>
              <a:rPr/>
              <a:t> A: </a:t>
            </a:r>
            <a:r>
              <a:rPr b="1"/>
              <a:t>Iteration</a:t>
            </a:r>
            <a:r>
              <a:rPr/>
              <a:t> = 2-week sprint with tactical deliverables. </a:t>
            </a:r>
            <a:r>
              <a:rPr b="1"/>
              <a:t>Milestone</a:t>
            </a:r>
            <a:r>
              <a:rPr/>
              <a:t> = multi-iteration strategic objective (e.g., “Beta User Onboarding”).</a:t>
            </a:r>
          </a:p>
          <a:p>
            <a:pPr lvl="0" indent="0" marL="0">
              <a:buNone/>
            </a:pPr>
            <a:r>
              <a:rPr b="1"/>
              <a:t>Q: How do you handle urgent P0 bugs mid-sprint?</a:t>
            </a:r>
            <a:r>
              <a:rPr/>
              <a:t> A: </a:t>
            </a:r>
            <a:r>
              <a:rPr>
                <a:latin typeface="Courier"/>
              </a:rPr>
              <a:t>/fix-bugs</a:t>
            </a:r>
            <a:r>
              <a:rPr/>
              <a:t> workflow can be triggered anytime. Fixes merged same day if validated. Sprint commitments adjusted if scope impact &gt;20%.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29: Getting Started - For Your Team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How to Replicate This Setup</a:t>
            </a:r>
          </a:p>
          <a:p>
            <a:pPr lvl="0" indent="0" marL="0">
              <a:buNone/>
            </a:pPr>
            <a:r>
              <a:rPr b="1"/>
              <a:t>Step 1: Configure GitHub Project (1 day)</a:t>
            </a:r>
            <a:r>
              <a:rPr/>
              <a:t> - Create 21 custom fields (Team, Iteration, Priority, etc.) - Set up 5 views (Roadmap, Iterations, Milestones, Readiness, Table) - Import issue templates (Milestone Definition, Bug Report, Feedback)</a:t>
            </a:r>
          </a:p>
          <a:p>
            <a:pPr lvl="0" indent="0" marL="0">
              <a:buNone/>
            </a:pPr>
            <a:r>
              <a:rPr b="1"/>
              <a:t>Step 2: Migrate Existing Issues (2-3 days)</a:t>
            </a:r>
            <a:r>
              <a:rPr/>
              <a:t> - Tag issues with milestones, priorities, teams - Populate Readiness Level and Effort estimates - Link parent-child relationships (Milestone Definition → sub-issues)</a:t>
            </a:r>
          </a:p>
          <a:p>
            <a:pPr lvl="0" indent="0" marL="0">
              <a:buNone/>
            </a:pPr>
            <a:r>
              <a:rPr b="1"/>
              <a:t>Step 3: Train Team (1 week)</a:t>
            </a:r>
            <a:r>
              <a:rPr/>
              <a:t> - Product team: Roadmap &amp; Milestone Definition workflow - Dev team: Iterations Board &amp; Readiness Tracker usage - QA team: Bug workflow &amp; automated testing integration</a:t>
            </a:r>
          </a:p>
          <a:p>
            <a:pPr lvl="0" indent="0" marL="0">
              <a:buNone/>
            </a:pPr>
            <a:r>
              <a:rPr b="1"/>
              <a:t>Step 4: Iterate (ongoing)</a:t>
            </a:r>
            <a:r>
              <a:rPr/>
              <a:t> - Weekly retrospectives refine process - Monthly metrics review (velocity, completion %) - Quarterly roadmap planning sessions</a:t>
            </a:r>
          </a:p>
          <a:p>
            <a:pPr lvl="0" indent="0" marL="0">
              <a:buNone/>
            </a:pPr>
            <a:r>
              <a:rPr b="1"/>
              <a:t>Resources:</a:t>
            </a:r>
            <a:r>
              <a:rPr/>
              <a:t> - Template project: [Link to public GitHub Project] - Documentation: </a:t>
            </a:r>
            <a:r>
              <a:rPr>
                <a:latin typeface="Courier"/>
              </a:rPr>
              <a:t>docs/processes/STAKEHOLDER_INTAKE.md</a:t>
            </a:r>
            <a:r>
              <a:rPr/>
              <a:t> - Automation scripts: </a:t>
            </a:r>
            <a:r>
              <a:rPr>
                <a:latin typeface="Courier"/>
              </a:rPr>
              <a:t>/scripts/metrics_dashboard.py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30: Thank You &amp; Live Demo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Questions? Let’s Dive Into Live Demo</a:t>
            </a:r>
          </a:p>
          <a:p>
            <a:pPr lvl="0" indent="0" marL="0">
              <a:buNone/>
            </a:pPr>
            <a:r>
              <a:rPr b="1"/>
              <a:t>Prepared Demos:</a:t>
            </a:r>
            <a:r>
              <a:rPr/>
              <a:t> 1. </a:t>
            </a:r>
            <a:r>
              <a:rPr b="1"/>
              <a:t>Quarterly Roadmap:</a:t>
            </a:r>
            <a:r>
              <a:rPr/>
              <a:t> Navigate timeline, filter by team, drill into milestone 2. </a:t>
            </a:r>
            <a:r>
              <a:rPr b="1"/>
              <a:t>Iterations Board:</a:t>
            </a:r>
            <a:r>
              <a:rPr/>
              <a:t> Show current sprint, filter by assignee, demonstrate workflow 3. </a:t>
            </a:r>
            <a:r>
              <a:rPr b="1"/>
              <a:t>Milestone Tracking:</a:t>
            </a:r>
            <a:r>
              <a:rPr/>
              <a:t> Show Milestone Definition issue → sub-issues → completion % 4. </a:t>
            </a:r>
            <a:r>
              <a:rPr b="1"/>
              <a:t>Bug Workflow:</a:t>
            </a:r>
            <a:r>
              <a:rPr/>
              <a:t> Demonstrate </a:t>
            </a:r>
            <a:r>
              <a:rPr>
                <a:latin typeface="Courier"/>
              </a:rPr>
              <a:t>/fix-bugs</a:t>
            </a:r>
            <a:r>
              <a:rPr/>
              <a:t> command, show </a:t>
            </a:r>
            <a:r>
              <a:rPr>
                <a:latin typeface="Courier"/>
              </a:rPr>
              <a:t>fixed-pending-review</a:t>
            </a:r>
            <a:r>
              <a:rPr/>
              <a:t> labels 5. </a:t>
            </a:r>
            <a:r>
              <a:rPr b="1"/>
              <a:t>Stakeholder Feedback:</a:t>
            </a:r>
            <a:r>
              <a:rPr/>
              <a:t> (Placeholder - to be implemented with template)</a:t>
            </a:r>
          </a:p>
          <a:p>
            <a:pPr lvl="0" indent="0" marL="0">
              <a:buNone/>
            </a:pPr>
            <a:r>
              <a:rPr b="1"/>
              <a:t>Contact:</a:t>
            </a:r>
            <a:r>
              <a:rPr/>
              <a:t> - Project Lead: [Your Name/Email] - Repository: https://github.com/CryptoYogiLLC/migrate-ui-orchestrator - GitHub Project: https://github.com/users/CryptoYogiLLC/projects/2</a:t>
            </a:r>
          </a:p>
          <a:p>
            <a:pPr lvl="0" indent="0" marL="0">
              <a:buNone/>
            </a:pPr>
            <a:r>
              <a:rPr b="1"/>
              <a:t>Closing Statement:</a:t>
            </a:r>
            <a:r>
              <a:rPr/>
              <a:t> </a:t>
            </a:r>
            <a:r>
              <a:rPr i="1"/>
              <a:t>“Enterprise project management doesn’t require expensive tools. GitHub Projects v2 + discipline + automation = world-class delivery tracking. We’ve proven it with 783 items, 19 milestones, and 646 completions. You can too.”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APPENDIX: BACKUP SLIDES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Backup Slide 1: Custom Fields Reference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21 Custom Fields Configured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003300"/>
                <a:gridCol w="1295400"/>
                <a:gridCol w="1206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Field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Values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Single Select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Team ownership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Dev Team, QA Team, Product Team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Iteration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Iteration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Sprint assignment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Iteration 1-8, Quarters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Priority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Single Select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Urgency ranking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P0-P4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Readiness Level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Single Select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Refinement stage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Broken Down, Spike, Ready, In Progress, Done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Estimated Effort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Single Select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Sizing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1-2 weeks to 12+ weeks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Single Select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Workflow state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Backlog, Blocked, In Progress, Review, Done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Milestone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Text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Strategic grouping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Milestone name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Assignees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People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Task owners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Team members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Labels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Tags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Categorization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bug, feature, backend, frontend, etc.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Issues Created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Number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Milestone tracking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Auto-calculated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Issues Remaining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Number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Milestone tracking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Auto-calculated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Completion Percent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Number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Milestone tracking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Auto-calculated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Start Date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Timeline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Manual entry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End Date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Timeline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Manual entry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Backup Slide 2: Label Taxonomy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26 Labels Organized by Category</a:t>
            </a:r>
          </a:p>
          <a:p>
            <a:pPr lvl="0" indent="0" marL="0">
              <a:buNone/>
            </a:pPr>
            <a:r>
              <a:rPr b="1"/>
              <a:t>Type Labels:</a:t>
            </a:r>
            <a:r>
              <a:rPr/>
              <a:t> - </a:t>
            </a:r>
            <a:r>
              <a:rPr>
                <a:latin typeface="Courier"/>
              </a:rPr>
              <a:t>bug</a:t>
            </a:r>
            <a:r>
              <a:rPr/>
              <a:t> - Something isn’t working - </a:t>
            </a:r>
            <a:r>
              <a:rPr>
                <a:latin typeface="Courier"/>
              </a:rPr>
              <a:t>feature</a:t>
            </a:r>
            <a:r>
              <a:rPr/>
              <a:t> - New feature request - </a:t>
            </a:r>
            <a:r>
              <a:rPr>
                <a:latin typeface="Courier"/>
              </a:rPr>
              <a:t>enhancement</a:t>
            </a:r>
            <a:r>
              <a:rPr/>
              <a:t> - Improvement to existing feature - </a:t>
            </a:r>
            <a:r>
              <a:rPr>
                <a:latin typeface="Courier"/>
              </a:rPr>
              <a:t>tech-debt</a:t>
            </a:r>
            <a:r>
              <a:rPr/>
              <a:t> - Technical debt reduction - </a:t>
            </a:r>
            <a:r>
              <a:rPr>
                <a:latin typeface="Courier"/>
              </a:rPr>
              <a:t>documentation</a:t>
            </a:r>
            <a:r>
              <a:rPr/>
              <a:t> - Docs improvements</a:t>
            </a:r>
          </a:p>
          <a:p>
            <a:pPr lvl="0" indent="0" marL="0">
              <a:buNone/>
            </a:pPr>
            <a:r>
              <a:rPr b="1"/>
              <a:t>Priority Labels:</a:t>
            </a:r>
            <a:r>
              <a:rPr/>
              <a:t> - </a:t>
            </a:r>
            <a:r>
              <a:rPr>
                <a:latin typeface="Courier"/>
              </a:rPr>
              <a:t>priority-critical</a:t>
            </a:r>
            <a:r>
              <a:rPr/>
              <a:t> - P0 - Must complete immediately - </a:t>
            </a:r>
            <a:r>
              <a:rPr>
                <a:latin typeface="Courier"/>
              </a:rPr>
              <a:t>priority-high</a:t>
            </a:r>
            <a:r>
              <a:rPr/>
              <a:t> - P1 - High priority</a:t>
            </a:r>
          </a:p>
          <a:p>
            <a:pPr lvl="0" indent="0" marL="0">
              <a:buNone/>
            </a:pPr>
            <a:r>
              <a:rPr b="1"/>
              <a:t>Area Labels:</a:t>
            </a:r>
            <a:r>
              <a:rPr/>
              <a:t> - </a:t>
            </a:r>
            <a:r>
              <a:rPr>
                <a:latin typeface="Courier"/>
              </a:rPr>
              <a:t>backend</a:t>
            </a:r>
            <a:r>
              <a:rPr/>
              <a:t> - Backend implementation - </a:t>
            </a:r>
            <a:r>
              <a:rPr>
                <a:latin typeface="Courier"/>
              </a:rPr>
              <a:t>frontend</a:t>
            </a:r>
            <a:r>
              <a:rPr/>
              <a:t> - Frontend/UI work - </a:t>
            </a:r>
            <a:r>
              <a:rPr>
                <a:latin typeface="Courier"/>
              </a:rPr>
              <a:t>database</a:t>
            </a:r>
            <a:r>
              <a:rPr/>
              <a:t> - Database schema/migrations - </a:t>
            </a:r>
            <a:r>
              <a:rPr>
                <a:latin typeface="Courier"/>
              </a:rPr>
              <a:t>api</a:t>
            </a:r>
            <a:r>
              <a:rPr/>
              <a:t> - API endpoints and routes - </a:t>
            </a:r>
            <a:r>
              <a:rPr>
                <a:latin typeface="Courier"/>
              </a:rPr>
              <a:t>testing</a:t>
            </a:r>
            <a:r>
              <a:rPr/>
              <a:t> - Testing and QA work</a:t>
            </a:r>
          </a:p>
          <a:p>
            <a:pPr lvl="0" indent="0" marL="0">
              <a:buNone/>
            </a:pPr>
            <a:r>
              <a:rPr b="1"/>
              <a:t>Process Labels:</a:t>
            </a:r>
            <a:r>
              <a:rPr/>
              <a:t> - </a:t>
            </a:r>
            <a:r>
              <a:rPr>
                <a:latin typeface="Courier"/>
              </a:rPr>
              <a:t>fixed-pending-review</a:t>
            </a:r>
            <a:r>
              <a:rPr/>
              <a:t> - Bug fixed, awaiting user verification - </a:t>
            </a:r>
            <a:r>
              <a:rPr>
                <a:latin typeface="Courier"/>
              </a:rPr>
              <a:t>product-input-needed</a:t>
            </a:r>
            <a:r>
              <a:rPr/>
              <a:t> - Blocked on product decision - </a:t>
            </a:r>
            <a:r>
              <a:rPr>
                <a:latin typeface="Courier"/>
              </a:rPr>
              <a:t>spike</a:t>
            </a:r>
            <a:r>
              <a:rPr/>
              <a:t> - Time-boxed research/investigation - </a:t>
            </a:r>
            <a:r>
              <a:rPr>
                <a:latin typeface="Courier"/>
              </a:rPr>
              <a:t>Milestone Definition</a:t>
            </a:r>
            <a:r>
              <a:rPr/>
              <a:t> - Milestone breakdown issue - </a:t>
            </a:r>
            <a:r>
              <a:rPr>
                <a:latin typeface="Courier"/>
              </a:rPr>
              <a:t>Roadmap</a:t>
            </a:r>
            <a:r>
              <a:rPr/>
              <a:t> - Roadmap-level item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Backup Slide 3: Automation Scripts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GitHub API Scripts for Metrics</a:t>
            </a:r>
          </a:p>
          <a:p>
            <a:pPr lvl="0" indent="0" marL="0">
              <a:buNone/>
            </a:pPr>
            <a:r>
              <a:rPr b="1"/>
              <a:t>Velocity Calculation: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Calculate items completed per iteration</a:t>
            </a:r>
            <a:br/>
            <a:r>
              <a:rPr>
                <a:latin typeface="Courier"/>
              </a:rPr>
              <a:t>gh api graphql </a:t>
            </a:r>
            <a:r>
              <a:rPr>
                <a:solidFill>
                  <a:srgbClr val="7D9029"/>
                </a:solidFill>
                <a:latin typeface="Courier"/>
              </a:rPr>
              <a:t>-f</a:t>
            </a:r>
            <a:r>
              <a:rPr>
                <a:latin typeface="Courier"/>
              </a:rPr>
              <a:t> query=</a:t>
            </a:r>
            <a:r>
              <a:rPr>
                <a:solidFill>
                  <a:srgbClr val="4070A0"/>
                </a:solidFill>
                <a:latin typeface="Courier"/>
              </a:rPr>
              <a:t>'</a:t>
            </a:r>
            <a:br/>
            <a:r>
              <a:rPr>
                <a:solidFill>
                  <a:srgbClr val="4070A0"/>
                </a:solidFill>
                <a:latin typeface="Courier"/>
              </a:rPr>
              <a:t>  query {</a:t>
            </a:r>
            <a:br/>
            <a:r>
              <a:rPr>
                <a:solidFill>
                  <a:srgbClr val="4070A0"/>
                </a:solidFill>
                <a:latin typeface="Courier"/>
              </a:rPr>
              <a:t>    node(id: "PVT_kwHOC9ukJs4A-zrv") {</a:t>
            </a:r>
            <a:br/>
            <a:r>
              <a:rPr>
                <a:solidFill>
                  <a:srgbClr val="4070A0"/>
                </a:solidFill>
                <a:latin typeface="Courier"/>
              </a:rPr>
              <a:t>      ... on ProjectV2 {</a:t>
            </a:r>
            <a:br/>
            <a:r>
              <a:rPr>
                <a:solidFill>
                  <a:srgbClr val="4070A0"/>
                </a:solidFill>
                <a:latin typeface="Courier"/>
              </a:rPr>
              <a:t>        items(first: 100) {</a:t>
            </a:r>
            <a:br/>
            <a:r>
              <a:rPr>
                <a:solidFill>
                  <a:srgbClr val="4070A0"/>
                </a:solidFill>
                <a:latin typeface="Courier"/>
              </a:rPr>
              <a:t>          nodes {</a:t>
            </a:r>
            <a:br/>
            <a:r>
              <a:rPr>
                <a:solidFill>
                  <a:srgbClr val="4070A0"/>
                </a:solidFill>
                <a:latin typeface="Courier"/>
              </a:rPr>
              <a:t>            fieldValues(first: 10) {</a:t>
            </a:r>
            <a:br/>
            <a:r>
              <a:rPr>
                <a:solidFill>
                  <a:srgbClr val="4070A0"/>
                </a:solidFill>
                <a:latin typeface="Courier"/>
              </a:rPr>
              <a:t>              nodes {</a:t>
            </a:r>
            <a:br/>
            <a:r>
              <a:rPr>
                <a:solidFill>
                  <a:srgbClr val="4070A0"/>
                </a:solidFill>
                <a:latin typeface="Courier"/>
              </a:rPr>
              <a:t>                ... on ProjectV2ItemFieldIterationValue {</a:t>
            </a:r>
            <a:br/>
            <a:r>
              <a:rPr>
                <a:solidFill>
                  <a:srgbClr val="4070A0"/>
                </a:solidFill>
                <a:latin typeface="Courier"/>
              </a:rPr>
              <a:t>                  title</a:t>
            </a:r>
            <a:br/>
            <a:r>
              <a:rPr>
                <a:solidFill>
                  <a:srgbClr val="4070A0"/>
                </a:solidFill>
                <a:latin typeface="Courier"/>
              </a:rPr>
              <a:t>                }</a:t>
            </a:r>
            <a:br/>
            <a:r>
              <a:rPr>
                <a:solidFill>
                  <a:srgbClr val="4070A0"/>
                </a:solidFill>
                <a:latin typeface="Courier"/>
              </a:rPr>
              <a:t>                ... on ProjectV2ItemFieldSingleSelectValue {</a:t>
            </a:r>
            <a:br/>
            <a:r>
              <a:rPr>
                <a:solidFill>
                  <a:srgbClr val="4070A0"/>
                </a:solidFill>
                <a:latin typeface="Courier"/>
              </a:rPr>
              <a:t>                  name</a:t>
            </a:r>
            <a:br/>
            <a:r>
              <a:rPr>
                <a:solidFill>
                  <a:srgbClr val="4070A0"/>
                </a:solidFill>
                <a:latin typeface="Courier"/>
              </a:rPr>
              <a:t>                }</a:t>
            </a:r>
            <a:br/>
            <a:r>
              <a:rPr>
                <a:solidFill>
                  <a:srgbClr val="4070A0"/>
                </a:solidFill>
                <a:latin typeface="Courier"/>
              </a:rPr>
              <a:t>              }</a:t>
            </a:r>
            <a:br/>
            <a:r>
              <a:rPr>
                <a:solidFill>
                  <a:srgbClr val="4070A0"/>
                </a:solidFill>
                <a:latin typeface="Courier"/>
              </a:rPr>
              <a:t>            }</a:t>
            </a:r>
            <a:br/>
            <a:r>
              <a:rPr>
                <a:solidFill>
                  <a:srgbClr val="4070A0"/>
                </a:solidFill>
                <a:latin typeface="Courier"/>
              </a:rPr>
              <a:t>          }</a:t>
            </a:r>
            <a:br/>
            <a:r>
              <a:rPr>
                <a:solidFill>
                  <a:srgbClr val="4070A0"/>
                </a:solidFill>
                <a:latin typeface="Courier"/>
              </a:rPr>
              <a:t>        }</a:t>
            </a:r>
            <a:br/>
            <a:r>
              <a:rPr>
                <a:solidFill>
                  <a:srgbClr val="4070A0"/>
                </a:solidFill>
                <a:latin typeface="Courier"/>
              </a:rPr>
              <a:t>      }</a:t>
            </a:r>
            <a:br/>
            <a:r>
              <a:rPr>
                <a:solidFill>
                  <a:srgbClr val="4070A0"/>
                </a:solidFill>
                <a:latin typeface="Courier"/>
              </a:rPr>
              <a:t>    }</a:t>
            </a:r>
            <a:br/>
            <a:r>
              <a:rPr>
                <a:solidFill>
                  <a:srgbClr val="4070A0"/>
                </a:solidFill>
                <a:latin typeface="Courier"/>
              </a:rPr>
              <a:t>  }</a:t>
            </a:r>
            <a:br/>
            <a:r>
              <a:rPr>
                <a:solidFill>
                  <a:srgbClr val="4070A0"/>
                </a:solidFill>
                <a:latin typeface="Courier"/>
              </a:rPr>
              <a:t>'</a:t>
            </a:r>
          </a:p>
          <a:p>
            <a:pPr lvl="0" indent="0" marL="0">
              <a:buNone/>
            </a:pPr>
            <a:r>
              <a:rPr b="1"/>
              <a:t>Bug Resolution Time: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Calculate average time from bug creation to `fixed-pending-review` label</a:t>
            </a:r>
            <a:br/>
            <a:r>
              <a:rPr>
                <a:latin typeface="Courier"/>
              </a:rPr>
              <a:t>gh issue list </a:t>
            </a:r>
            <a:r>
              <a:rPr>
                <a:solidFill>
                  <a:srgbClr val="7D9029"/>
                </a:solidFill>
                <a:latin typeface="Courier"/>
              </a:rPr>
              <a:t>--label</a:t>
            </a:r>
            <a:r>
              <a:rPr>
                <a:latin typeface="Courier"/>
              </a:rPr>
              <a:t> bug </a:t>
            </a:r>
            <a:r>
              <a:rPr>
                <a:solidFill>
                  <a:srgbClr val="7D9029"/>
                </a:solidFill>
                <a:latin typeface="Courier"/>
              </a:rPr>
              <a:t>--state</a:t>
            </a:r>
            <a:r>
              <a:rPr>
                <a:latin typeface="Courier"/>
              </a:rPr>
              <a:t> closed </a:t>
            </a:r>
            <a:r>
              <a:rPr>
                <a:solidFill>
                  <a:srgbClr val="7D9029"/>
                </a:solidFill>
                <a:latin typeface="Courier"/>
              </a:rPr>
              <a:t>--json</a:t>
            </a:r>
            <a:r>
              <a:rPr>
                <a:latin typeface="Courier"/>
              </a:rPr>
              <a:t> number,createdAt,closedAt,labels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--jq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'.[] | select(.labels[].name == "fixed-pending-review") | {number, resolution_time: (.closedAt - .createdAt)}'</a:t>
            </a:r>
          </a:p>
          <a:p>
            <a:pPr lvl="0" indent="0" marL="0">
              <a:buNone/>
            </a:pPr>
            <a:r>
              <a:rPr b="1"/>
              <a:t>Milestone Progress: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Generate milestone completion table</a:t>
            </a:r>
            <a:br/>
            <a:r>
              <a:rPr>
                <a:latin typeface="Courier"/>
              </a:rPr>
              <a:t>gh api repos/CryptoYogiLLC/migrate-ui-orchestrator/milestones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--jq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'.[] | {title, open_issues, closed_issues, completion: ((.closed_issues / (.open_issues + .closed_issues)) * 100)}'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Backup Slide 4: Tool Comparison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Why GitHub Projects v2 Over Jira/Asana?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2108200"/>
                <a:gridCol w="876300"/>
                <a:gridCol w="965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GitHub Projects 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Jira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Asana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Native Git Integration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Built-in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Requires plugin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Webhook setup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Custom Fields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21 fields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Unlimited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⚠️ Limited in free tier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Multiple Views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5+ views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Boards/Lists/Calendar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Multiple views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API Access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GraphQL/REST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REST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REST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Cost (for 12 users)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$0 (free tier)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$90/month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$140/month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Learning Curve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Developers already know GitHub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⚠️ Steeper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⚠️ Moderate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Automation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GitHub Actions + API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Advanced automation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⚠️ Rules limited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Context Switching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None (code + issues in one place)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Separate tool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Separate tool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Our Verdict:</a:t>
            </a:r>
            <a:r>
              <a:rPr/>
              <a:t> </a:t>
            </a:r>
            <a:r>
              <a:rPr i="1"/>
              <a:t>For development teams already on GitHub, Projects v2 eliminates context switching and reduces cost while providing enterprise-grade features.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END OF PRESENTATION</a:t>
            </a:r>
          </a:p>
          <a:p>
            <a:pPr lvl="0" indent="0" marL="0">
              <a:buNone/>
            </a:pPr>
            <a:r>
              <a:rPr b="1"/>
              <a:t>Presentation Duration:</a:t>
            </a:r>
            <a:r>
              <a:rPr/>
              <a:t> 35-40 minutes </a:t>
            </a:r>
            <a:r>
              <a:rPr b="1"/>
              <a:t>Slide Count:</a:t>
            </a:r>
            <a:r>
              <a:rPr/>
              <a:t> 30 main slides + 4 backup slides </a:t>
            </a:r>
            <a:r>
              <a:rPr b="1"/>
              <a:t>Format:</a:t>
            </a:r>
            <a:r>
              <a:rPr/>
              <a:t> Markdown (convert to PowerPoint/Google Slides) </a:t>
            </a:r>
            <a:r>
              <a:rPr b="1"/>
              <a:t>Assets Needed:</a:t>
            </a:r>
            <a:r>
              <a:rPr/>
              <a:t> - Screenshots from your 5 project views - Annotated versions highlighting key features - Intake funnel diagram (Mermaid or draw.io) - Bug workflow diagram</a:t>
            </a:r>
          </a:p>
          <a:p>
            <a:pPr lvl="0" indent="0" marL="0">
              <a:buNone/>
            </a:pPr>
            <a:r>
              <a:rPr b="1"/>
              <a:t>Next Steps:</a:t>
            </a:r>
            <a:r>
              <a:rPr/>
              <a:t> 1. Review slide content, adjust talking points 2. Insert actual screenshots from your GitHub Project 3. Practice live demo navigation 4. Prepare Q&amp;A responses 5. Export to PowerPoint/Google Slides for presentation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2025-11-08T16:54:21Z</dcterms:created>
  <dcterms:modified xsi:type="dcterms:W3CDTF">2025-11-08T16:54:21Z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